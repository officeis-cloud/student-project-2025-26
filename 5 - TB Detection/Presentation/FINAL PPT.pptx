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95" r:id="rId3"/>
    <p:sldId id="278" r:id="rId4"/>
    <p:sldId id="279" r:id="rId5"/>
    <p:sldId id="280" r:id="rId6"/>
    <p:sldId id="281" r:id="rId7"/>
    <p:sldId id="296" r:id="rId8"/>
    <p:sldId id="284" r:id="rId9"/>
    <p:sldId id="285" r:id="rId10"/>
    <p:sldId id="313" r:id="rId11"/>
    <p:sldId id="314" r:id="rId12"/>
    <p:sldId id="315" r:id="rId13"/>
    <p:sldId id="311" r:id="rId14"/>
    <p:sldId id="312" r:id="rId15"/>
    <p:sldId id="316" r:id="rId16"/>
    <p:sldId id="317" r:id="rId17"/>
    <p:sldId id="287" r:id="rId18"/>
    <p:sldId id="320" r:id="rId19"/>
    <p:sldId id="336" r:id="rId20"/>
    <p:sldId id="319" r:id="rId21"/>
    <p:sldId id="288" r:id="rId22"/>
    <p:sldId id="318" r:id="rId23"/>
    <p:sldId id="333" r:id="rId24"/>
    <p:sldId id="334" r:id="rId25"/>
    <p:sldId id="335" r:id="rId26"/>
    <p:sldId id="297" r:id="rId27"/>
    <p:sldId id="321" r:id="rId28"/>
    <p:sldId id="322" r:id="rId29"/>
    <p:sldId id="325" r:id="rId30"/>
    <p:sldId id="328" r:id="rId31"/>
    <p:sldId id="327" r:id="rId32"/>
    <p:sldId id="329" r:id="rId33"/>
    <p:sldId id="330" r:id="rId34"/>
    <p:sldId id="305" r:id="rId35"/>
    <p:sldId id="331" r:id="rId36"/>
    <p:sldId id="332" r:id="rId37"/>
    <p:sldId id="310" r:id="rId38"/>
    <p:sldId id="277"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9F5168-2900-4F75-B76E-FF70074E1761}" v="250" dt="2026-05-20T18:07:40.6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15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05EEFB34-4D6C-4FFD-AB94-F577780255CD}" type="datetimeFigureOut">
              <a:rPr lang="en-IN" smtClean="0"/>
              <a:t>21-05-2026</a:t>
            </a:fld>
            <a:endParaRPr lang="en-IN"/>
          </a:p>
        </p:txBody>
      </p:sp>
      <p:sp>
        <p:nvSpPr>
          <p:cNvPr id="17" name="Footer Placeholder 16"/>
          <p:cNvSpPr>
            <a:spLocks noGrp="1"/>
          </p:cNvSpPr>
          <p:nvPr>
            <p:ph type="ftr" sz="quarter" idx="11"/>
          </p:nvPr>
        </p:nvSpPr>
        <p:spPr/>
        <p:txBody>
          <a:bodyPr/>
          <a:lstStyle/>
          <a:p>
            <a:endParaRPr lang="en-IN"/>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81AA0C3D-3528-4417-9BF8-72CAABDEE45C}" type="slidenum">
              <a:rPr lang="en-IN" smtClean="0"/>
              <a:t>‹#›</a:t>
            </a:fld>
            <a:endParaRPr lang="en-IN"/>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05EEFB34-4D6C-4FFD-AB94-F577780255CD}"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5815584" y="1026373"/>
            <a:ext cx="609600" cy="441325"/>
          </a:xfrm>
        </p:spPr>
        <p:txBody>
          <a:bodyPr/>
          <a:lstStyle/>
          <a:p>
            <a:fld id="{81AA0C3D-3528-4417-9BF8-72CAABDEE45C}" type="slidenum">
              <a:rPr lang="en-IN" smtClean="0"/>
              <a:t>‹#›</a:t>
            </a:fld>
            <a:endParaRPr lang="en-IN"/>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05EEFB34-4D6C-4FFD-AB94-F577780255CD}" type="datetimeFigureOut">
              <a:rPr lang="en-IN" smtClean="0"/>
              <a:t>21-05-2026</a:t>
            </a:fld>
            <a:endParaRPr lang="en-IN"/>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81AA0C3D-3528-4417-9BF8-72CAABDEE45C}" type="slidenum">
              <a:rPr lang="en-IN" smtClean="0"/>
              <a:t>‹#›</a:t>
            </a:fld>
            <a:endParaRPr lang="en-IN"/>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05EEFB34-4D6C-4FFD-AB94-F577780255CD}"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AA0C3D-3528-4417-9BF8-72CAABDEE45C}" type="slidenum">
              <a:rPr lang="en-IN" smtClean="0"/>
              <a:t>‹#›</a:t>
            </a:fld>
            <a:endParaRPr lang="en-IN"/>
          </a:p>
        </p:txBody>
      </p:sp>
      <p:sp>
        <p:nvSpPr>
          <p:cNvPr id="8" name="Straight Connector 7"/>
          <p:cNvSpPr>
            <a:spLocks noChangeShapeType="1"/>
          </p:cNvSpPr>
          <p:nvPr/>
        </p:nvSpPr>
        <p:spPr bwMode="auto">
          <a:xfrm flipV="1">
            <a:off x="6084107" y="1575653"/>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05EEFB34-4D6C-4FFD-AB94-F577780255CD}" type="datetimeFigureOut">
              <a:rPr lang="en-IN" smtClean="0"/>
              <a:t>21-05-2026</a:t>
            </a:fld>
            <a:endParaRPr lang="en-IN"/>
          </a:p>
        </p:txBody>
      </p:sp>
      <p:sp>
        <p:nvSpPr>
          <p:cNvPr id="8" name="Footer Placeholder 7"/>
          <p:cNvSpPr>
            <a:spLocks noGrp="1"/>
          </p:cNvSpPr>
          <p:nvPr>
            <p:ph type="ftr" sz="quarter" idx="11"/>
          </p:nvPr>
        </p:nvSpPr>
        <p:spPr>
          <a:xfrm>
            <a:off x="406400" y="6409944"/>
            <a:ext cx="4775200" cy="365760"/>
          </a:xfrm>
        </p:spPr>
        <p:txBody>
          <a:bodyPr/>
          <a:lstStyle/>
          <a:p>
            <a:endParaRPr lang="en-IN"/>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17"/>
            <a:ext cx="609600" cy="441325"/>
          </a:xfrm>
        </p:spPr>
        <p:txBody>
          <a:bodyPr/>
          <a:lstStyle>
            <a:lvl1pPr algn="ctr">
              <a:defRPr/>
            </a:lvl1pPr>
          </a:lstStyle>
          <a:p>
            <a:fld id="{81AA0C3D-3528-4417-9BF8-72CAABDEE45C}" type="slidenum">
              <a:rPr lang="en-IN" smtClean="0"/>
              <a:t>‹#›</a:t>
            </a:fld>
            <a:endParaRPr lang="en-IN"/>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5EEFB34-4D6C-4FFD-AB94-F577780255CD}" type="datetimeFigureOut">
              <a:rPr lang="en-IN" smtClean="0"/>
              <a:t>21-05-2026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5791200" y="1036021"/>
            <a:ext cx="609600" cy="441325"/>
          </a:xfrm>
        </p:spPr>
        <p:txBody>
          <a:bodyPr/>
          <a:lstStyle/>
          <a:p>
            <a:fld id="{81AA0C3D-3528-4417-9BF8-72CAABDEE45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05EEFB34-4D6C-4FFD-AB94-F577780255CD}" type="datetimeFigureOut">
              <a:rPr lang="en-IN" smtClean="0"/>
              <a:t>21-05-2026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1AA0C3D-3528-4417-9BF8-72CAABDEE45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81AA0C3D-3528-4417-9BF8-72CAABDEE45C}" type="slidenum">
              <a:rPr lang="en-IN" smtClean="0"/>
              <a:t>‹#›</a:t>
            </a:fld>
            <a:endParaRPr lang="en-IN"/>
          </a:p>
        </p:txBody>
      </p:sp>
      <p:sp>
        <p:nvSpPr>
          <p:cNvPr id="21" name="Rectangle 20"/>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05EEFB34-4D6C-4FFD-AB94-F577780255CD}" type="datetimeFigureOut">
              <a:rPr lang="en-IN" smtClean="0"/>
              <a:t>21-05-2026</a:t>
            </a:fld>
            <a:endParaRPr lang="en-IN"/>
          </a:p>
        </p:txBody>
      </p:sp>
      <p:sp>
        <p:nvSpPr>
          <p:cNvPr id="6" name="Footer Placeholder 5"/>
          <p:cNvSpPr>
            <a:spLocks noGrp="1"/>
          </p:cNvSpPr>
          <p:nvPr>
            <p:ph type="ftr" sz="quarter" idx="11"/>
          </p:nvPr>
        </p:nvSpPr>
        <p:spPr>
          <a:xfrm>
            <a:off x="402336" y="6410848"/>
            <a:ext cx="4511040" cy="365760"/>
          </a:xfrm>
        </p:spPr>
        <p:txBody>
          <a:bodyPr/>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39"/>
            <a:ext cx="609600" cy="441325"/>
          </a:xfrm>
        </p:spPr>
        <p:txBody>
          <a:bodyPr/>
          <a:lstStyle/>
          <a:p>
            <a:fld id="{81AA0C3D-3528-4417-9BF8-72CAABDEE45C}" type="slidenum">
              <a:rPr lang="en-IN" smtClean="0"/>
              <a:t>‹#›</a:t>
            </a:fld>
            <a:endParaRPr lang="en-IN"/>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05EEFB34-4D6C-4FFD-AB94-F577780255CD}" type="datetimeFigureOut">
              <a:rPr lang="en-IN" smtClean="0"/>
              <a:t>21-05-2026</a:t>
            </a:fld>
            <a:endParaRPr lang="en-IN"/>
          </a:p>
        </p:txBody>
      </p:sp>
      <p:sp>
        <p:nvSpPr>
          <p:cNvPr id="6" name="Footer Placeholder 5"/>
          <p:cNvSpPr>
            <a:spLocks noGrp="1"/>
          </p:cNvSpPr>
          <p:nvPr>
            <p:ph type="ftr" sz="quarter" idx="11"/>
          </p:nvPr>
        </p:nvSpPr>
        <p:spPr>
          <a:xfrm>
            <a:off x="402336" y="6410848"/>
            <a:ext cx="4779264" cy="365760"/>
          </a:xfrm>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5EEFB34-4D6C-4FFD-AB94-F577780255CD}"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AA0C3D-3528-4417-9BF8-72CAABDEE45C}"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2"/>
            <a:ext cx="609600" cy="441325"/>
          </a:xfrm>
        </p:spPr>
        <p:txBody>
          <a:bodyPr/>
          <a:lstStyle/>
          <a:p>
            <a:fld id="{81AA0C3D-3528-4417-9BF8-72CAABDEE45C}" type="slidenum">
              <a:rPr lang="en-IN" smtClean="0"/>
              <a:t>‹#›</a:t>
            </a:fld>
            <a:endParaRPr lang="en-IN"/>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5EEFB34-4D6C-4FFD-AB94-F577780255CD}"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2" name="Vertical Title 1"/>
          <p:cNvSpPr>
            <a:spLocks noGrp="1"/>
          </p:cNvSpPr>
          <p:nvPr>
            <p:ph type="title" orient="vert"/>
          </p:nvPr>
        </p:nvSpPr>
        <p:spPr>
          <a:xfrm>
            <a:off x="9855200" y="304802"/>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05EEFB34-4D6C-4FFD-AB94-F577780255CD}" type="datetimeFigureOut">
              <a:rPr lang="en-IN" smtClean="0"/>
              <a:t>21-05-2026</a:t>
            </a:fld>
            <a:endParaRPr lang="en-IN"/>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IN"/>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1AA0C3D-3528-4417-9BF8-72CAABDEE45C}" type="slidenum">
              <a:rPr lang="en-IN" smtClean="0"/>
              <a:t>‹#›</a:t>
            </a:fld>
            <a:endParaRPr lang="en-IN"/>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kaggle.com/datasets/nih-chest-xrays/data"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1">
            <a:extLst>
              <a:ext uri="{FF2B5EF4-FFF2-40B4-BE49-F238E27FC236}">
                <a16:creationId xmlns:a16="http://schemas.microsoft.com/office/drawing/2014/main" id="{2D1C1894-76E0-E29E-A139-B1D5B3D54278}"/>
              </a:ext>
            </a:extLst>
          </p:cNvPr>
          <p:cNvSpPr txBox="1"/>
          <p:nvPr/>
        </p:nvSpPr>
        <p:spPr>
          <a:xfrm>
            <a:off x="2597150" y="167550"/>
            <a:ext cx="7063740" cy="1262380"/>
          </a:xfrm>
          <a:prstGeom prst="rect">
            <a:avLst/>
          </a:prstGeom>
          <a:noFill/>
        </p:spPr>
        <p:txBody>
          <a:bodyPr wrap="square" rtlCol="0" anchor="t">
            <a:noAutofit/>
          </a:bodyPr>
          <a:lstStyle/>
          <a:p>
            <a:pPr algn="ctr"/>
            <a:r>
              <a:rPr lang="en-US" sz="3200" b="1" dirty="0">
                <a:latin typeface="Times New Roman" panose="02020603050405020304" charset="0"/>
                <a:cs typeface="Times New Roman" panose="02020603050405020304" charset="0"/>
                <a:sym typeface="+mn-ea"/>
              </a:rPr>
              <a:t>P.E.S. COLLEGE OF ENGINEERING </a:t>
            </a:r>
          </a:p>
          <a:p>
            <a:pPr algn="ctr"/>
            <a:r>
              <a:rPr lang="en-US" sz="3200" b="1" dirty="0">
                <a:latin typeface="Times New Roman" panose="02020603050405020304" charset="0"/>
                <a:cs typeface="Times New Roman" panose="02020603050405020304" charset="0"/>
                <a:sym typeface="+mn-ea"/>
              </a:rPr>
              <a:t>MANDYA</a:t>
            </a:r>
            <a:br>
              <a:rPr lang="en-US" sz="3200" b="1" dirty="0">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rPr>
            </a:br>
            <a:endParaRPr lang="en-IN" sz="3200" b="1" dirty="0">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endParaRPr>
          </a:p>
        </p:txBody>
      </p:sp>
      <p:pic>
        <p:nvPicPr>
          <p:cNvPr id="14" name="Picture 13">
            <a:extLst>
              <a:ext uri="{FF2B5EF4-FFF2-40B4-BE49-F238E27FC236}">
                <a16:creationId xmlns:a16="http://schemas.microsoft.com/office/drawing/2014/main" id="{A310FBB1-A52C-1E5E-9A01-3E8882929DD0}"/>
              </a:ext>
            </a:extLst>
          </p:cNvPr>
          <p:cNvPicPr/>
          <p:nvPr/>
        </p:nvPicPr>
        <p:blipFill>
          <a:blip r:embed="rId2"/>
          <a:stretch>
            <a:fillRect/>
          </a:stretch>
        </p:blipFill>
        <p:spPr>
          <a:xfrm>
            <a:off x="327202" y="260350"/>
            <a:ext cx="1941528" cy="1940622"/>
          </a:xfrm>
          <a:prstGeom prst="rect">
            <a:avLst/>
          </a:prstGeom>
        </p:spPr>
      </p:pic>
      <p:sp>
        <p:nvSpPr>
          <p:cNvPr id="16" name="Text Box 3">
            <a:extLst>
              <a:ext uri="{FF2B5EF4-FFF2-40B4-BE49-F238E27FC236}">
                <a16:creationId xmlns:a16="http://schemas.microsoft.com/office/drawing/2014/main" id="{0BB5D1D1-523B-9241-1013-74D3CCA9E0DE}"/>
              </a:ext>
            </a:extLst>
          </p:cNvPr>
          <p:cNvSpPr txBox="1"/>
          <p:nvPr/>
        </p:nvSpPr>
        <p:spPr>
          <a:xfrm>
            <a:off x="2524760" y="1225370"/>
            <a:ext cx="7207885" cy="1187450"/>
          </a:xfrm>
          <a:prstGeom prst="rect">
            <a:avLst/>
          </a:prstGeom>
          <a:noFill/>
        </p:spPr>
        <p:txBody>
          <a:bodyPr wrap="square" rtlCol="0" anchor="t">
            <a:noAutofit/>
          </a:bodyPr>
          <a:lstStyle/>
          <a:p>
            <a:pPr algn="ctr"/>
            <a:r>
              <a:rPr lang="en-US" sz="3200" b="1" dirty="0">
                <a:solidFill>
                  <a:srgbClr val="002060"/>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rPr>
              <a:t>Department of Information Science and Engineering</a:t>
            </a:r>
            <a:endParaRPr lang="en-IN" sz="3200" b="1" dirty="0">
              <a:solidFill>
                <a:srgbClr val="002060"/>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endParaRPr>
          </a:p>
        </p:txBody>
      </p:sp>
      <p:sp>
        <p:nvSpPr>
          <p:cNvPr id="17" name="Text Box 8">
            <a:extLst>
              <a:ext uri="{FF2B5EF4-FFF2-40B4-BE49-F238E27FC236}">
                <a16:creationId xmlns:a16="http://schemas.microsoft.com/office/drawing/2014/main" id="{96958712-2B28-8D2D-2A2F-F6FBCB8ADFC7}"/>
              </a:ext>
            </a:extLst>
          </p:cNvPr>
          <p:cNvSpPr txBox="1"/>
          <p:nvPr/>
        </p:nvSpPr>
        <p:spPr>
          <a:xfrm>
            <a:off x="770036" y="2800510"/>
            <a:ext cx="10717967" cy="1426063"/>
          </a:xfrm>
          <a:prstGeom prst="rect">
            <a:avLst/>
          </a:prstGeom>
          <a:noFill/>
        </p:spPr>
        <p:txBody>
          <a:bodyPr wrap="square" rtlCol="0" anchor="t">
            <a:noAutofit/>
          </a:bodyPr>
          <a:lstStyle/>
          <a:p>
            <a:pPr algn="ct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ea typeface="DengXian" panose="02010600030101010101" pitchFamily="2" charset="-122"/>
              </a:rPr>
              <a:t>“</a:t>
            </a:r>
            <a:r>
              <a:rPr lang="en-US" sz="3200" b="1" dirty="0">
                <a:solidFill>
                  <a:srgbClr val="FF0000"/>
                </a:solidFill>
              </a:rPr>
              <a:t>DEEP LEARNING-BASED TUBERCULOSIS DETECTION USING CHEST RADIOGRAPHS</a:t>
            </a: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ea typeface="DengXian" panose="02010600030101010101" pitchFamily="2" charset="-122"/>
              </a:rPr>
              <a:t>”</a:t>
            </a:r>
          </a:p>
        </p:txBody>
      </p:sp>
      <p:sp>
        <p:nvSpPr>
          <p:cNvPr id="18" name="Text Box 9">
            <a:extLst>
              <a:ext uri="{FF2B5EF4-FFF2-40B4-BE49-F238E27FC236}">
                <a16:creationId xmlns:a16="http://schemas.microsoft.com/office/drawing/2014/main" id="{6D7D8B44-B785-4732-14B6-D698841852D8}"/>
              </a:ext>
            </a:extLst>
          </p:cNvPr>
          <p:cNvSpPr txBox="1"/>
          <p:nvPr/>
        </p:nvSpPr>
        <p:spPr>
          <a:xfrm>
            <a:off x="3048000" y="2231242"/>
            <a:ext cx="6096000" cy="521970"/>
          </a:xfrm>
          <a:prstGeom prst="rect">
            <a:avLst/>
          </a:prstGeom>
          <a:noFill/>
        </p:spPr>
        <p:txBody>
          <a:bodyPr wrap="square" rtlCol="0" anchor="t">
            <a:spAutoFit/>
          </a:bodyPr>
          <a:lstStyle/>
          <a:p>
            <a:pPr algn="ctr"/>
            <a:r>
              <a:rPr lang="en-IN" b="1" dirty="0">
                <a:sym typeface="+mn-ea"/>
              </a:rPr>
              <a:t>  </a:t>
            </a:r>
            <a:r>
              <a:rPr lang="en-IN" sz="2800" b="1" dirty="0">
                <a:latin typeface="Times New Roman" panose="02020603050405020304" charset="0"/>
                <a:cs typeface="Times New Roman" panose="02020603050405020304" charset="0"/>
                <a:sym typeface="+mn-ea"/>
              </a:rPr>
              <a:t>Presentation on</a:t>
            </a:r>
          </a:p>
        </p:txBody>
      </p:sp>
      <p:sp>
        <p:nvSpPr>
          <p:cNvPr id="19" name="Text Box 10">
            <a:extLst>
              <a:ext uri="{FF2B5EF4-FFF2-40B4-BE49-F238E27FC236}">
                <a16:creationId xmlns:a16="http://schemas.microsoft.com/office/drawing/2014/main" id="{4C6D8BE4-481F-63D0-0346-CE7673793AF1}"/>
              </a:ext>
            </a:extLst>
          </p:cNvPr>
          <p:cNvSpPr txBox="1"/>
          <p:nvPr/>
        </p:nvSpPr>
        <p:spPr>
          <a:xfrm>
            <a:off x="349736" y="3871912"/>
            <a:ext cx="4379709" cy="2554545"/>
          </a:xfrm>
          <a:prstGeom prst="rect">
            <a:avLst/>
          </a:prstGeom>
          <a:noFill/>
        </p:spPr>
        <p:txBody>
          <a:bodyPr wrap="square" rtlCol="0" anchor="t">
            <a:spAutoFit/>
          </a:bodyPr>
          <a:lstStyle/>
          <a:p>
            <a:pPr algn="ctr"/>
            <a:r>
              <a:rPr lang="en-IN" sz="2000" b="1" noProof="0" dirty="0">
                <a:ln>
                  <a:noFill/>
                </a:ln>
                <a:solidFill>
                  <a:prstClr val="black"/>
                </a:solidFill>
                <a:effectLst/>
                <a:uLnTx/>
                <a:uFillTx/>
                <a:latin typeface="Times New Roman" panose="02020603050405020304" charset="0"/>
                <a:ea typeface="+mj-ea"/>
                <a:cs typeface="Times New Roman" panose="02020603050405020304" charset="0"/>
                <a:sym typeface="+mn-ea"/>
              </a:rPr>
              <a:t>Presentation by</a:t>
            </a:r>
            <a:r>
              <a:rPr lang="en-US" sz="2000" b="1" dirty="0">
                <a:solidFill>
                  <a:prstClr val="black"/>
                </a:solidFill>
                <a:latin typeface="Times New Roman" panose="02020603050405020304" charset="0"/>
                <a:ea typeface="+mj-ea"/>
                <a:cs typeface="Times New Roman" panose="02020603050405020304" charset="0"/>
                <a:sym typeface="+mn-ea"/>
              </a:rPr>
              <a:t>:</a:t>
            </a:r>
            <a:endParaRPr lang="en-US" altLang="en-IN" sz="2000" b="1" noProof="0" dirty="0">
              <a:ln>
                <a:noFill/>
              </a:ln>
              <a:solidFill>
                <a:prstClr val="black"/>
              </a:solidFill>
              <a:effectLst/>
              <a:uLnTx/>
              <a:uFillTx/>
              <a:latin typeface="Times New Roman" panose="02020603050405020304" charset="0"/>
              <a:ea typeface="+mj-ea"/>
              <a:cs typeface="Times New Roman" panose="02020603050405020304" charset="0"/>
              <a:sym typeface="+mn-ea"/>
            </a:endParaRPr>
          </a:p>
          <a:p>
            <a:pPr algn="ctr"/>
            <a:r>
              <a:rPr lang="en-IN" sz="2000" dirty="0"/>
              <a:t>Arun Kumar </a:t>
            </a:r>
            <a:r>
              <a:rPr lang="en-US" altLang="en-IN" sz="2000" dirty="0">
                <a:solidFill>
                  <a:prstClr val="black"/>
                </a:solidFill>
                <a:latin typeface="Times New Roman" panose="02020603050405020304" charset="0"/>
                <a:ea typeface="+mj-ea"/>
                <a:cs typeface="Times New Roman" panose="02020603050405020304" charset="0"/>
                <a:sym typeface="+mn-ea"/>
              </a:rPr>
              <a:t>		4PS22IS007</a:t>
            </a:r>
          </a:p>
          <a:p>
            <a:pPr algn="ctr"/>
            <a:r>
              <a:rPr lang="en-IN" sz="2000" dirty="0"/>
              <a:t>Deekshith A </a:t>
            </a:r>
            <a:r>
              <a:rPr lang="en-US" altLang="en-IN" sz="2000" dirty="0">
                <a:solidFill>
                  <a:prstClr val="black"/>
                </a:solidFill>
                <a:latin typeface="Times New Roman" panose="02020603050405020304" charset="0"/>
                <a:ea typeface="+mj-ea"/>
                <a:cs typeface="Times New Roman" panose="02020603050405020304" charset="0"/>
                <a:sym typeface="+mn-ea"/>
              </a:rPr>
              <a:t>	     	4PS22IS015</a:t>
            </a:r>
          </a:p>
          <a:p>
            <a:pPr algn="ctr"/>
            <a:r>
              <a:rPr lang="en-IN" sz="2000" dirty="0"/>
              <a:t>Dhanush AM      </a:t>
            </a:r>
            <a:r>
              <a:rPr lang="en-US" altLang="en-IN" sz="2000" dirty="0">
                <a:solidFill>
                  <a:prstClr val="black"/>
                </a:solidFill>
                <a:latin typeface="Times New Roman" panose="02020603050405020304" charset="0"/>
                <a:ea typeface="+mj-ea"/>
                <a:cs typeface="Times New Roman" panose="02020603050405020304" charset="0"/>
                <a:sym typeface="+mn-ea"/>
              </a:rPr>
              <a:t>	4PS22IS017 V</a:t>
            </a:r>
            <a:r>
              <a:rPr lang="en-IN" sz="2000" dirty="0" err="1"/>
              <a:t>ishwabandhu</a:t>
            </a:r>
            <a:r>
              <a:rPr lang="en-IN" sz="2000" dirty="0"/>
              <a:t> KN</a:t>
            </a:r>
            <a:r>
              <a:rPr lang="en-US" altLang="en-IN" sz="2000" dirty="0">
                <a:solidFill>
                  <a:prstClr val="black"/>
                </a:solidFill>
                <a:latin typeface="Times New Roman" panose="02020603050405020304" charset="0"/>
                <a:ea typeface="+mj-ea"/>
                <a:cs typeface="Times New Roman" panose="02020603050405020304" charset="0"/>
                <a:sym typeface="+mn-ea"/>
              </a:rPr>
              <a:t>	4PS22IS059</a:t>
            </a:r>
          </a:p>
          <a:p>
            <a:pPr algn="ctr"/>
            <a:r>
              <a:rPr lang="en-US" altLang="en-IN" sz="2000" dirty="0">
                <a:solidFill>
                  <a:prstClr val="black"/>
                </a:solidFill>
                <a:latin typeface="Times New Roman" panose="02020603050405020304" charset="0"/>
                <a:ea typeface="+mj-ea"/>
                <a:cs typeface="Times New Roman" panose="02020603050405020304" charset="0"/>
                <a:sym typeface="+mn-ea"/>
              </a:rPr>
              <a:t>Dept. of Information Science and Engineering</a:t>
            </a:r>
            <a:br>
              <a:rPr lang="en-US" altLang="en-IN" sz="2000" dirty="0">
                <a:solidFill>
                  <a:prstClr val="black"/>
                </a:solidFill>
                <a:latin typeface="Times New Roman" panose="02020603050405020304" charset="0"/>
                <a:ea typeface="+mj-ea"/>
                <a:cs typeface="Times New Roman" panose="02020603050405020304" charset="0"/>
                <a:sym typeface="+mn-ea"/>
              </a:rPr>
            </a:br>
            <a:r>
              <a:rPr lang="en-US" altLang="en-IN" sz="2000" dirty="0">
                <a:solidFill>
                  <a:prstClr val="black"/>
                </a:solidFill>
                <a:latin typeface="Times New Roman" panose="02020603050405020304" charset="0"/>
                <a:ea typeface="+mj-ea"/>
                <a:cs typeface="Times New Roman" panose="02020603050405020304" charset="0"/>
                <a:sym typeface="+mn-ea"/>
              </a:rPr>
              <a:t> P.E.S.C.E, </a:t>
            </a:r>
            <a:r>
              <a:rPr lang="en-US" altLang="en-IN" sz="2000" dirty="0" err="1">
                <a:solidFill>
                  <a:prstClr val="black"/>
                </a:solidFill>
                <a:latin typeface="Times New Roman" panose="02020603050405020304" charset="0"/>
                <a:ea typeface="+mj-ea"/>
                <a:cs typeface="Times New Roman" panose="02020603050405020304" charset="0"/>
                <a:sym typeface="+mn-ea"/>
              </a:rPr>
              <a:t>Mandya</a:t>
            </a:r>
            <a:endParaRPr lang="en-US" altLang="en-IN" sz="2000" dirty="0">
              <a:solidFill>
                <a:prstClr val="black"/>
              </a:solidFill>
              <a:latin typeface="Times New Roman" panose="02020603050405020304" charset="0"/>
              <a:ea typeface="+mj-ea"/>
              <a:cs typeface="Times New Roman" panose="02020603050405020304" charset="0"/>
              <a:sym typeface="+mn-ea"/>
            </a:endParaRPr>
          </a:p>
        </p:txBody>
      </p:sp>
      <p:sp>
        <p:nvSpPr>
          <p:cNvPr id="20" name="Text Box 13">
            <a:extLst>
              <a:ext uri="{FF2B5EF4-FFF2-40B4-BE49-F238E27FC236}">
                <a16:creationId xmlns:a16="http://schemas.microsoft.com/office/drawing/2014/main" id="{21682297-B4CF-26DB-9F2C-931FF912315E}"/>
              </a:ext>
            </a:extLst>
          </p:cNvPr>
          <p:cNvSpPr txBox="1"/>
          <p:nvPr/>
        </p:nvSpPr>
        <p:spPr>
          <a:xfrm>
            <a:off x="8129418" y="4137868"/>
            <a:ext cx="3778885" cy="1903948"/>
          </a:xfrm>
          <a:prstGeom prst="rect">
            <a:avLst/>
          </a:prstGeom>
          <a:noFill/>
        </p:spPr>
        <p:txBody>
          <a:bodyPr wrap="square" rtlCol="0" anchor="t">
            <a:noAutofit/>
          </a:bodyPr>
          <a:lstStyle/>
          <a:p>
            <a:pPr algn="ctr"/>
            <a:r>
              <a:rPr lang="en-US" sz="2000" b="1" dirty="0">
                <a:latin typeface="Times New Roman" panose="02020603050405020304" charset="0"/>
                <a:cs typeface="Times New Roman" panose="02020603050405020304" charset="0"/>
                <a:sym typeface="+mn-ea"/>
              </a:rPr>
              <a:t>Under the Guidance of:</a:t>
            </a:r>
          </a:p>
          <a:p>
            <a:pPr algn="ctr"/>
            <a:r>
              <a:rPr lang="en-US" sz="2000" dirty="0">
                <a:latin typeface="Times New Roman" panose="02020603050405020304" charset="0"/>
                <a:cs typeface="Times New Roman" panose="02020603050405020304" charset="0"/>
                <a:sym typeface="+mn-ea"/>
              </a:rPr>
              <a:t>Dr. T.S Prabhakar</a:t>
            </a:r>
          </a:p>
          <a:p>
            <a:pPr algn="ctr"/>
            <a:r>
              <a:rPr lang="en-US" sz="2000" dirty="0">
                <a:latin typeface="Times New Roman" panose="02020603050405020304" charset="0"/>
                <a:cs typeface="Times New Roman" panose="02020603050405020304" charset="0"/>
                <a:sym typeface="+mn-ea"/>
              </a:rPr>
              <a:t>Associate Professor &amp; HOD,</a:t>
            </a:r>
          </a:p>
          <a:p>
            <a:pPr algn="ctr"/>
            <a:r>
              <a:rPr lang="en-US" sz="2000" dirty="0">
                <a:latin typeface="Times New Roman" panose="02020603050405020304" charset="0"/>
                <a:cs typeface="Times New Roman" panose="02020603050405020304" charset="0"/>
                <a:sym typeface="+mn-ea"/>
              </a:rPr>
              <a:t>Dept of Information Science and Engineering</a:t>
            </a:r>
          </a:p>
          <a:p>
            <a:pPr algn="ctr"/>
            <a:r>
              <a:rPr lang="en-US" sz="2000" dirty="0">
                <a:latin typeface="Times New Roman" panose="02020603050405020304" charset="0"/>
                <a:cs typeface="Times New Roman" panose="02020603050405020304" charset="0"/>
                <a:sym typeface="+mn-ea"/>
              </a:rPr>
              <a:t>PESCE, Mandya</a:t>
            </a:r>
          </a:p>
        </p:txBody>
      </p:sp>
      <p:pic>
        <p:nvPicPr>
          <p:cNvPr id="5" name="Picture 4" descr="A logo with a picture of a person in a white headdress&#10;&#10;AI-generated content may be incorrect.">
            <a:extLst>
              <a:ext uri="{FF2B5EF4-FFF2-40B4-BE49-F238E27FC236}">
                <a16:creationId xmlns:a16="http://schemas.microsoft.com/office/drawing/2014/main" id="{149178B2-D0E5-D2BF-7C4E-92F151BD97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32645" y="260351"/>
            <a:ext cx="2175658" cy="1940622"/>
          </a:xfrm>
          <a:prstGeom prst="rect">
            <a:avLst/>
          </a:prstGeom>
        </p:spPr>
      </p:pic>
      <p:sp>
        <p:nvSpPr>
          <p:cNvPr id="2" name="TextBox 1">
            <a:extLst>
              <a:ext uri="{FF2B5EF4-FFF2-40B4-BE49-F238E27FC236}">
                <a16:creationId xmlns:a16="http://schemas.microsoft.com/office/drawing/2014/main" id="{7374DF90-9BBF-D258-A068-24FAECF1423B}"/>
              </a:ext>
            </a:extLst>
          </p:cNvPr>
          <p:cNvSpPr txBox="1"/>
          <p:nvPr/>
        </p:nvSpPr>
        <p:spPr>
          <a:xfrm>
            <a:off x="3222885" y="639047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226252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down)">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barn(inVertical)">
                                      <p:cBhvr>
                                        <p:cTn id="31" dur="500"/>
                                        <p:tgtEl>
                                          <p:spTgt spid="2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arn(inVertical)">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0"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B0710B-086B-D8DB-03D0-B867E516A61C}"/>
              </a:ext>
            </a:extLst>
          </p:cNvPr>
          <p:cNvSpPr txBox="1"/>
          <p:nvPr/>
        </p:nvSpPr>
        <p:spPr>
          <a:xfrm>
            <a:off x="3384341" y="6373529"/>
            <a:ext cx="5423316"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 name="Rectangle 2"/>
          <p:cNvSpPr/>
          <p:nvPr/>
        </p:nvSpPr>
        <p:spPr>
          <a:xfrm>
            <a:off x="3233677" y="2629481"/>
            <a:ext cx="5724644" cy="923330"/>
          </a:xfrm>
          <a:prstGeom prst="rect">
            <a:avLst/>
          </a:prstGeom>
        </p:spPr>
        <p:txBody>
          <a:bodyPr wrap="none">
            <a:spAutoFit/>
          </a:bodyPr>
          <a:lstStyle/>
          <a:p>
            <a:r>
              <a:rPr lang="en-US" sz="5400" b="1" dirty="0">
                <a:solidFill>
                  <a:srgbClr val="002060"/>
                </a:solidFill>
                <a:latin typeface="Times New Roman" pitchFamily="18" charset="0"/>
                <a:ea typeface="Libre Baskerville"/>
                <a:cs typeface="Times New Roman" pitchFamily="18" charset="0"/>
                <a:sym typeface="Libre Baskerville"/>
              </a:rPr>
              <a:t>INTRODUCTION</a:t>
            </a:r>
            <a:endParaRPr lang="en-IN" sz="5400" dirty="0"/>
          </a:p>
        </p:txBody>
      </p:sp>
    </p:spTree>
    <p:extLst>
      <p:ext uri="{BB962C8B-B14F-4D97-AF65-F5344CB8AC3E}">
        <p14:creationId xmlns:p14="http://schemas.microsoft.com/office/powerpoint/2010/main" val="416764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p:cNvSpPr txBox="1"/>
          <p:nvPr/>
        </p:nvSpPr>
        <p:spPr>
          <a:xfrm>
            <a:off x="1888611" y="612100"/>
            <a:ext cx="8414775" cy="553998"/>
          </a:xfrm>
          <a:prstGeom prst="rect">
            <a:avLst/>
          </a:prstGeom>
        </p:spPr>
        <p:txBody>
          <a:bodyPr wrap="square" lIns="0" tIns="0" rIns="0" bIns="0" rtlCol="0" anchor="t">
            <a:spAutoFit/>
          </a:bodyPr>
          <a:lstStyle/>
          <a:p>
            <a:pPr algn="ctr"/>
            <a:r>
              <a:rPr lang="en-US" sz="3600" b="1" dirty="0">
                <a:solidFill>
                  <a:srgbClr val="002060"/>
                </a:solidFill>
                <a:latin typeface="Times New Roman" pitchFamily="18" charset="0"/>
                <a:ea typeface="Libre Baskerville"/>
                <a:cs typeface="Times New Roman" pitchFamily="18" charset="0"/>
                <a:sym typeface="Libre Baskerville"/>
              </a:rPr>
              <a:t>INTRODUCTION</a:t>
            </a:r>
          </a:p>
        </p:txBody>
      </p:sp>
      <p:sp>
        <p:nvSpPr>
          <p:cNvPr id="20" name="TextBox 19">
            <a:extLst>
              <a:ext uri="{FF2B5EF4-FFF2-40B4-BE49-F238E27FC236}">
                <a16:creationId xmlns:a16="http://schemas.microsoft.com/office/drawing/2014/main" id="{F9B0710B-086B-D8DB-03D0-B867E516A61C}"/>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4" name="Picture 3" descr="X-ray of a person's chest&#10;&#10;AI-generated content may be incorrect.">
            <a:extLst>
              <a:ext uri="{FF2B5EF4-FFF2-40B4-BE49-F238E27FC236}">
                <a16:creationId xmlns:a16="http://schemas.microsoft.com/office/drawing/2014/main" id="{C2C642A4-864B-D3F4-680F-9366F25B9C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3050" y="1466850"/>
            <a:ext cx="4076565" cy="4362450"/>
          </a:xfrm>
          <a:prstGeom prst="rect">
            <a:avLst/>
          </a:prstGeom>
        </p:spPr>
      </p:pic>
      <p:sp>
        <p:nvSpPr>
          <p:cNvPr id="6" name="Rectangle 2">
            <a:extLst>
              <a:ext uri="{FF2B5EF4-FFF2-40B4-BE49-F238E27FC236}">
                <a16:creationId xmlns:a16="http://schemas.microsoft.com/office/drawing/2014/main" id="{69688B14-C7A6-FF03-57B9-AA861FE80F6C}"/>
              </a:ext>
            </a:extLst>
          </p:cNvPr>
          <p:cNvSpPr>
            <a:spLocks noChangeArrowheads="1"/>
          </p:cNvSpPr>
          <p:nvPr/>
        </p:nvSpPr>
        <p:spPr bwMode="auto">
          <a:xfrm>
            <a:off x="571635" y="1200272"/>
            <a:ext cx="716141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Tuberculosis (TB)</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infectious disease caused by the bacterium </a:t>
            </a:r>
            <a:r>
              <a:rPr kumimoji="0" lang="en-US" altLang="en-US" sz="2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Mycobacterium tuberculosis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mainly affecting the lungs.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TB spreads through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airborne droplets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an infected person coughs, sneezes, or speaks.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According to the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WHO</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around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10.8 million people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developed TB globally in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2023</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TB caused approximately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1.25 million deaths worldwide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it one of the leading infectious killers.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India has the highest TB burden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contributing nearly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26–27% of global TB cases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7841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txBox="1"/>
          <p:nvPr/>
        </p:nvSpPr>
        <p:spPr>
          <a:xfrm>
            <a:off x="2684878" y="585266"/>
            <a:ext cx="6822242" cy="553998"/>
          </a:xfrm>
          <a:prstGeom prst="rect">
            <a:avLst/>
          </a:prstGeom>
        </p:spPr>
        <p:txBody>
          <a:bodyPr wrap="square" lIns="0" tIns="0" rIns="0" bIns="0" rtlCol="0" anchor="t">
            <a:spAutoFit/>
          </a:bodyPr>
          <a:lstStyle/>
          <a:p>
            <a:pPr algn="ctr"/>
            <a:r>
              <a:rPr lang="en-US" sz="3600" b="1" dirty="0">
                <a:solidFill>
                  <a:srgbClr val="002060"/>
                </a:solidFill>
                <a:latin typeface="Times New Roman" pitchFamily="18" charset="0"/>
                <a:ea typeface="Libre Baskerville"/>
                <a:cs typeface="Times New Roman" pitchFamily="18" charset="0"/>
                <a:sym typeface="Libre Baskerville"/>
              </a:rPr>
              <a:t>PROBLEM IDENTIFICATION</a:t>
            </a:r>
          </a:p>
        </p:txBody>
      </p:sp>
      <p:sp>
        <p:nvSpPr>
          <p:cNvPr id="4" name="Rectangle 1">
            <a:extLst>
              <a:ext uri="{FF2B5EF4-FFF2-40B4-BE49-F238E27FC236}">
                <a16:creationId xmlns:a16="http://schemas.microsoft.com/office/drawing/2014/main" id="{197D22AB-6955-1212-16E2-96B141E301A3}"/>
              </a:ext>
            </a:extLst>
          </p:cNvPr>
          <p:cNvSpPr>
            <a:spLocks noChangeArrowheads="1"/>
          </p:cNvSpPr>
          <p:nvPr/>
        </p:nvSpPr>
        <p:spPr bwMode="auto">
          <a:xfrm>
            <a:off x="643170" y="1133378"/>
            <a:ext cx="10905657" cy="5139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severe shortage of expert radiologists in low-resource regions.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AI systems rely on computationally heavy lung segmentation.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Errors during lung segmentation propagate and cause incorrect classifications.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Medical imaging datasets suffer from severe class imbalance.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 data augmentation fails to generate diverse pathological patterns.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Imbalanced data biases models toward the "normal" class, causing dangerous false negatives.</a:t>
            </a:r>
          </a:p>
        </p:txBody>
      </p:sp>
      <p:sp>
        <p:nvSpPr>
          <p:cNvPr id="5" name="TextBox 4">
            <a:extLst>
              <a:ext uri="{FF2B5EF4-FFF2-40B4-BE49-F238E27FC236}">
                <a16:creationId xmlns:a16="http://schemas.microsoft.com/office/drawing/2014/main" id="{30391BB7-A179-E8B7-A1C2-80C11BE34B9D}"/>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6466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3"/>
          <p:cNvSpPr txBox="1"/>
          <p:nvPr/>
        </p:nvSpPr>
        <p:spPr>
          <a:xfrm>
            <a:off x="2010103" y="2494893"/>
            <a:ext cx="8171792" cy="1661993"/>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ea typeface="Libre Baskerville"/>
                <a:cs typeface="Times New Roman" pitchFamily="18" charset="0"/>
                <a:sym typeface="Libre Baskerville"/>
              </a:rPr>
              <a:t>LITERATURE </a:t>
            </a:r>
          </a:p>
          <a:p>
            <a:pPr algn="ctr"/>
            <a:r>
              <a:rPr lang="en-US" sz="5400" b="1" dirty="0">
                <a:solidFill>
                  <a:srgbClr val="002060"/>
                </a:solidFill>
                <a:latin typeface="Times New Roman" pitchFamily="18" charset="0"/>
                <a:ea typeface="Libre Baskerville"/>
                <a:cs typeface="Times New Roman" pitchFamily="18" charset="0"/>
                <a:sym typeface="Libre Baskerville"/>
              </a:rPr>
              <a:t>REVIEW</a:t>
            </a:r>
          </a:p>
        </p:txBody>
      </p:sp>
      <p:sp>
        <p:nvSpPr>
          <p:cNvPr id="4" name="TextBox 3">
            <a:extLst>
              <a:ext uri="{FF2B5EF4-FFF2-40B4-BE49-F238E27FC236}">
                <a16:creationId xmlns:a16="http://schemas.microsoft.com/office/drawing/2014/main" id="{7EE5E5AA-0DC2-F4E7-0162-95D5381C94F6}"/>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060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E8E9D1-1123-2CD0-0BCE-0C43C7EBC5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855" y="130130"/>
            <a:ext cx="11752290" cy="6228409"/>
          </a:xfrm>
          <a:prstGeom prst="rect">
            <a:avLst/>
          </a:prstGeom>
        </p:spPr>
      </p:pic>
      <p:sp>
        <p:nvSpPr>
          <p:cNvPr id="3" name="TextBox 2">
            <a:extLst>
              <a:ext uri="{FF2B5EF4-FFF2-40B4-BE49-F238E27FC236}">
                <a16:creationId xmlns:a16="http://schemas.microsoft.com/office/drawing/2014/main" id="{C2E92511-BFE1-53FB-87FF-D454C6F615EE}"/>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3543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33317" y="473218"/>
            <a:ext cx="8525346" cy="772006"/>
          </a:xfrm>
          <a:prstGeom prst="rect">
            <a:avLst/>
          </a:prstGeom>
        </p:spPr>
        <p:txBody>
          <a:bodyPr wrap="none">
            <a:spAutoFit/>
          </a:bodyPr>
          <a:lstStyle/>
          <a:p>
            <a:pPr algn="ctr">
              <a:lnSpc>
                <a:spcPts val="5312"/>
              </a:lnSpc>
            </a:pPr>
            <a:r>
              <a:rPr lang="en-US" sz="3600" b="1" dirty="0">
                <a:solidFill>
                  <a:srgbClr val="002060"/>
                </a:solidFill>
                <a:latin typeface="Times New Roman" pitchFamily="18" charset="0"/>
                <a:ea typeface="Libre Baskerville"/>
                <a:cs typeface="Times New Roman" pitchFamily="18" charset="0"/>
                <a:sym typeface="Libre Baskerville"/>
              </a:rPr>
              <a:t>SUMMARY OF LITERATURE REVIEW</a:t>
            </a:r>
          </a:p>
        </p:txBody>
      </p:sp>
      <p:sp>
        <p:nvSpPr>
          <p:cNvPr id="6" name="Rectangle 2">
            <a:extLst>
              <a:ext uri="{FF2B5EF4-FFF2-40B4-BE49-F238E27FC236}">
                <a16:creationId xmlns:a16="http://schemas.microsoft.com/office/drawing/2014/main" id="{FDFD4F9A-0EA7-7D0C-43D3-34E144BA2261}"/>
              </a:ext>
            </a:extLst>
          </p:cNvPr>
          <p:cNvSpPr>
            <a:spLocks noChangeArrowheads="1"/>
          </p:cNvSpPr>
          <p:nvPr/>
        </p:nvSpPr>
        <p:spPr bwMode="auto">
          <a:xfrm>
            <a:off x="421586" y="1245224"/>
            <a:ext cx="11348825"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Segmentation-Free Pipeline: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Eliminates complex lung segmentation preprocessing to reduce computational overhead and prevent multi-stage error propagation.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GAN-Based Augmentation: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Synthesizes high-quality, genuine-looking chest X-rays to explicitly balance the dataset and resolve minority class limitations.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Pathological Diversity: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Generates unique, distinct disease features beyond standard geometric flips and rotations to vastly improve model generalization.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Majority Voting: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Integrates multiple diverse model predictions to drastically minimize false negatives and ensure a highly reliable clinical diagnosis. </a:t>
            </a:r>
          </a:p>
        </p:txBody>
      </p:sp>
      <p:sp>
        <p:nvSpPr>
          <p:cNvPr id="4" name="TextBox 3">
            <a:extLst>
              <a:ext uri="{FF2B5EF4-FFF2-40B4-BE49-F238E27FC236}">
                <a16:creationId xmlns:a16="http://schemas.microsoft.com/office/drawing/2014/main" id="{2ADD9FBE-41A2-1855-5A74-78F774C90E3A}"/>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1717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p:cNvSpPr txBox="1"/>
          <p:nvPr/>
        </p:nvSpPr>
        <p:spPr>
          <a:xfrm>
            <a:off x="2975111" y="2758343"/>
            <a:ext cx="6241775" cy="830997"/>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ea typeface="Libre Baskerville"/>
                <a:cs typeface="Times New Roman" pitchFamily="18" charset="0"/>
                <a:sym typeface="Libre Baskerville"/>
              </a:rPr>
              <a:t>OBJECTIVES</a:t>
            </a:r>
          </a:p>
        </p:txBody>
      </p:sp>
      <p:sp>
        <p:nvSpPr>
          <p:cNvPr id="4" name="TextBox 3">
            <a:extLst>
              <a:ext uri="{FF2B5EF4-FFF2-40B4-BE49-F238E27FC236}">
                <a16:creationId xmlns:a16="http://schemas.microsoft.com/office/drawing/2014/main" id="{E6A5932F-169C-171B-34AD-F3736BA9604F}"/>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0589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p:cNvSpPr/>
          <p:nvPr/>
        </p:nvSpPr>
        <p:spPr>
          <a:xfrm>
            <a:off x="4346963" y="441939"/>
            <a:ext cx="3498072" cy="722314"/>
          </a:xfrm>
          <a:prstGeom prst="rect">
            <a:avLst/>
          </a:prstGeom>
        </p:spPr>
        <p:txBody>
          <a:bodyPr wrap="none">
            <a:spAutoFit/>
          </a:bodyPr>
          <a:lstStyle/>
          <a:p>
            <a:pPr algn="ctr">
              <a:lnSpc>
                <a:spcPts val="5312"/>
              </a:lnSpc>
            </a:pPr>
            <a:r>
              <a:rPr lang="en-US" sz="3600" b="1" dirty="0">
                <a:solidFill>
                  <a:srgbClr val="002060"/>
                </a:solidFill>
                <a:latin typeface="Times New Roman" pitchFamily="18" charset="0"/>
                <a:ea typeface="Libre Baskerville"/>
                <a:cs typeface="Times New Roman" pitchFamily="18" charset="0"/>
                <a:sym typeface="Libre Baskerville"/>
              </a:rPr>
              <a:t>OBJECTIVE </a:t>
            </a:r>
            <a:r>
              <a:rPr lang="en-US" sz="4000" b="1" dirty="0">
                <a:solidFill>
                  <a:srgbClr val="002060"/>
                </a:solidFill>
                <a:latin typeface="Times New Roman" pitchFamily="18" charset="0"/>
                <a:ea typeface="Libre Baskerville"/>
                <a:cs typeface="Times New Roman" pitchFamily="18" charset="0"/>
                <a:sym typeface="Libre Baskerville"/>
              </a:rPr>
              <a:t>-</a:t>
            </a:r>
            <a:r>
              <a:rPr lang="en-US" sz="3600" b="1" dirty="0">
                <a:solidFill>
                  <a:srgbClr val="002060"/>
                </a:solidFill>
                <a:latin typeface="Times New Roman" pitchFamily="18" charset="0"/>
                <a:ea typeface="Libre Baskerville"/>
                <a:cs typeface="Times New Roman" pitchFamily="18" charset="0"/>
                <a:sym typeface="Libre Baskerville"/>
              </a:rPr>
              <a:t> </a:t>
            </a:r>
            <a:r>
              <a:rPr lang="en-US" sz="3800" b="1" dirty="0">
                <a:solidFill>
                  <a:srgbClr val="002060"/>
                </a:solidFill>
                <a:latin typeface="Times New Roman" pitchFamily="18" charset="0"/>
                <a:ea typeface="Libre Baskerville"/>
                <a:cs typeface="Times New Roman" pitchFamily="18" charset="0"/>
                <a:sym typeface="Libre Baskerville"/>
              </a:rPr>
              <a:t>1</a:t>
            </a:r>
          </a:p>
        </p:txBody>
      </p:sp>
      <p:sp>
        <p:nvSpPr>
          <p:cNvPr id="3" name="TextBox 2">
            <a:extLst>
              <a:ext uri="{FF2B5EF4-FFF2-40B4-BE49-F238E27FC236}">
                <a16:creationId xmlns:a16="http://schemas.microsoft.com/office/drawing/2014/main" id="{B622521D-37D3-A524-C105-B89E38EC1A97}"/>
              </a:ext>
            </a:extLst>
          </p:cNvPr>
          <p:cNvSpPr txBox="1"/>
          <p:nvPr/>
        </p:nvSpPr>
        <p:spPr>
          <a:xfrm>
            <a:off x="1663907" y="1304145"/>
            <a:ext cx="9923489"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Prepare the Data and Create Synthetic Images</a:t>
            </a:r>
            <a:endParaRPr lang="en-IN"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8EA966-2802-BE03-455A-41CA11AB3A6F}"/>
              </a:ext>
            </a:extLst>
          </p:cNvPr>
          <p:cNvSpPr txBox="1"/>
          <p:nvPr/>
        </p:nvSpPr>
        <p:spPr>
          <a:xfrm>
            <a:off x="449705" y="2323475"/>
            <a:ext cx="11287593" cy="3539430"/>
          </a:xfrm>
          <a:prstGeom prst="rect">
            <a:avLst/>
          </a:prstGeom>
          <a:noFill/>
        </p:spPr>
        <p:txBody>
          <a:bodyPr wrap="square" rtlCol="0">
            <a:spAutoFit/>
          </a:bodyPr>
          <a:lstStyle/>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Collect dataset:</a:t>
            </a:r>
            <a:r>
              <a:rPr lang="en-US" sz="2800" dirty="0">
                <a:latin typeface="Times New Roman" panose="02020603050405020304" pitchFamily="18" charset="0"/>
                <a:cs typeface="Times New Roman" panose="02020603050405020304" pitchFamily="18" charset="0"/>
              </a:rPr>
              <a:t> Gather chest X-ray images and classify them into </a:t>
            </a:r>
            <a:r>
              <a:rPr lang="en-US" sz="2800" b="1" dirty="0">
                <a:latin typeface="Times New Roman" panose="02020603050405020304" pitchFamily="18" charset="0"/>
                <a:cs typeface="Times New Roman" panose="02020603050405020304" pitchFamily="18" charset="0"/>
              </a:rPr>
              <a:t>TB-positive</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normal</a:t>
            </a:r>
            <a:r>
              <a:rPr lang="en-US" sz="2800" dirty="0">
                <a:latin typeface="Times New Roman" panose="02020603050405020304" pitchFamily="18" charset="0"/>
                <a:cs typeface="Times New Roman" panose="02020603050405020304" pitchFamily="18" charset="0"/>
              </a:rPr>
              <a:t> categories. </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Preprocess images:</a:t>
            </a:r>
            <a:r>
              <a:rPr lang="en-US" sz="2800" dirty="0">
                <a:latin typeface="Times New Roman" panose="02020603050405020304" pitchFamily="18" charset="0"/>
                <a:cs typeface="Times New Roman" panose="02020603050405020304" pitchFamily="18" charset="0"/>
              </a:rPr>
              <a:t> Resize and enhance X-rays for consistent quality and better analysis. </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Generate synthetic data:</a:t>
            </a:r>
            <a:r>
              <a:rPr lang="en-US" sz="2800" dirty="0">
                <a:latin typeface="Times New Roman" panose="02020603050405020304" pitchFamily="18" charset="0"/>
                <a:cs typeface="Times New Roman" panose="02020603050405020304" pitchFamily="18" charset="0"/>
              </a:rPr>
              <a:t> Use </a:t>
            </a:r>
            <a:r>
              <a:rPr lang="en-US" sz="2800" b="1" dirty="0">
                <a:latin typeface="Times New Roman" panose="02020603050405020304" pitchFamily="18" charset="0"/>
                <a:cs typeface="Times New Roman" panose="02020603050405020304" pitchFamily="18" charset="0"/>
              </a:rPr>
              <a:t>GANs</a:t>
            </a:r>
            <a:r>
              <a:rPr lang="en-US" sz="2800" dirty="0">
                <a:latin typeface="Times New Roman" panose="02020603050405020304" pitchFamily="18" charset="0"/>
                <a:cs typeface="Times New Roman" panose="02020603050405020304" pitchFamily="18" charset="0"/>
              </a:rPr>
              <a:t> to create realistic artificial TB chest X-ray images. </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Balance dataset:</a:t>
            </a:r>
            <a:r>
              <a:rPr lang="en-US" sz="2800" dirty="0">
                <a:latin typeface="Times New Roman" panose="02020603050405020304" pitchFamily="18" charset="0"/>
                <a:cs typeface="Times New Roman" panose="02020603050405020304" pitchFamily="18" charset="0"/>
              </a:rPr>
              <a:t> Add generated images to overcome class imbalance and improve model learning. </a:t>
            </a:r>
          </a:p>
        </p:txBody>
      </p:sp>
      <p:sp>
        <p:nvSpPr>
          <p:cNvPr id="5" name="TextBox 4">
            <a:extLst>
              <a:ext uri="{FF2B5EF4-FFF2-40B4-BE49-F238E27FC236}">
                <a16:creationId xmlns:a16="http://schemas.microsoft.com/office/drawing/2014/main" id="{B537BCFC-0EFE-AEC7-C4C5-89091F6300F5}"/>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2065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B716E-5238-3D17-B1E8-B63A206C3BAA}"/>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FF9152E2-B874-8255-D652-D9DCCBB9B3F0}"/>
              </a:ext>
            </a:extLst>
          </p:cNvPr>
          <p:cNvSpPr/>
          <p:nvPr/>
        </p:nvSpPr>
        <p:spPr>
          <a:xfrm>
            <a:off x="4346962" y="441939"/>
            <a:ext cx="3498073" cy="722314"/>
          </a:xfrm>
          <a:prstGeom prst="rect">
            <a:avLst/>
          </a:prstGeom>
        </p:spPr>
        <p:txBody>
          <a:bodyPr wrap="none">
            <a:spAutoFit/>
          </a:bodyPr>
          <a:lstStyle/>
          <a:p>
            <a:pPr algn="ctr">
              <a:lnSpc>
                <a:spcPts val="5312"/>
              </a:lnSpc>
            </a:pPr>
            <a:r>
              <a:rPr lang="en-US" sz="3600" b="1" dirty="0">
                <a:solidFill>
                  <a:srgbClr val="002060"/>
                </a:solidFill>
                <a:latin typeface="Times New Roman" pitchFamily="18" charset="0"/>
                <a:ea typeface="Libre Baskerville"/>
                <a:cs typeface="Times New Roman" pitchFamily="18" charset="0"/>
                <a:sym typeface="Libre Baskerville"/>
              </a:rPr>
              <a:t>OBJECTIVE </a:t>
            </a:r>
            <a:r>
              <a:rPr lang="en-US" sz="4000" b="1" dirty="0">
                <a:solidFill>
                  <a:srgbClr val="002060"/>
                </a:solidFill>
                <a:latin typeface="Times New Roman" pitchFamily="18" charset="0"/>
                <a:ea typeface="Libre Baskerville"/>
                <a:cs typeface="Times New Roman" pitchFamily="18" charset="0"/>
                <a:sym typeface="Libre Baskerville"/>
              </a:rPr>
              <a:t>-</a:t>
            </a:r>
            <a:r>
              <a:rPr lang="en-US" sz="3600" b="1" dirty="0">
                <a:solidFill>
                  <a:srgbClr val="002060"/>
                </a:solidFill>
                <a:latin typeface="Times New Roman" pitchFamily="18" charset="0"/>
                <a:ea typeface="Libre Baskerville"/>
                <a:cs typeface="Times New Roman" pitchFamily="18" charset="0"/>
                <a:sym typeface="Libre Baskerville"/>
              </a:rPr>
              <a:t> </a:t>
            </a:r>
            <a:r>
              <a:rPr lang="en-US" sz="3800" b="1" dirty="0">
                <a:solidFill>
                  <a:srgbClr val="002060"/>
                </a:solidFill>
                <a:latin typeface="Times New Roman" pitchFamily="18" charset="0"/>
                <a:ea typeface="Libre Baskerville"/>
                <a:cs typeface="Times New Roman" pitchFamily="18" charset="0"/>
                <a:sym typeface="Libre Baskerville"/>
              </a:rPr>
              <a:t>2</a:t>
            </a:r>
          </a:p>
        </p:txBody>
      </p:sp>
      <p:sp>
        <p:nvSpPr>
          <p:cNvPr id="3" name="TextBox 2">
            <a:extLst>
              <a:ext uri="{FF2B5EF4-FFF2-40B4-BE49-F238E27FC236}">
                <a16:creationId xmlns:a16="http://schemas.microsoft.com/office/drawing/2014/main" id="{50C648A7-54CC-7528-6304-07D17ADEFA3C}"/>
              </a:ext>
            </a:extLst>
          </p:cNvPr>
          <p:cNvSpPr txBox="1"/>
          <p:nvPr/>
        </p:nvSpPr>
        <p:spPr>
          <a:xfrm>
            <a:off x="2765684" y="1274165"/>
            <a:ext cx="6655634"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Train the Deep Learning Models</a:t>
            </a:r>
            <a:endParaRPr lang="en-IN" sz="36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FB87B434-1065-20D2-2F2D-7990329F1784}"/>
              </a:ext>
            </a:extLst>
          </p:cNvPr>
          <p:cNvSpPr>
            <a:spLocks noChangeArrowheads="1"/>
          </p:cNvSpPr>
          <p:nvPr/>
        </p:nvSpPr>
        <p:spPr bwMode="auto">
          <a:xfrm>
            <a:off x="462636" y="2267060"/>
            <a:ext cx="1126172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AI models: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DenseNet121</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ResNet50</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TB from chest</a:t>
            </a:r>
          </a:p>
          <a:p>
            <a:pPr marL="0" marR="0" lvl="0" indent="0" algn="l" defTabSz="914400" rtl="0" eaLnBrk="0" fontAlgn="base" latinLnBrk="0" hangingPunct="0">
              <a:lnSpc>
                <a:spcPct val="100000"/>
              </a:lnSpc>
              <a:spcBef>
                <a:spcPct val="0"/>
              </a:spcBef>
              <a:spcAft>
                <a:spcPct val="0"/>
              </a:spcAft>
              <a:buClrTx/>
              <a:buSzTx/>
              <a:tabLst/>
            </a:pPr>
            <a:r>
              <a:rPr lang="en-US" altLang="en-US" sz="2800" dirty="0">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X-rays.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transfer learning: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pre-trained knowledge to improve learning </a:t>
            </a:r>
          </a:p>
          <a:p>
            <a:pPr marL="0" marR="0" lvl="0" indent="0" algn="l" defTabSz="914400" rtl="0" eaLnBrk="0" fontAlgn="base" latinLnBrk="0" hangingPunct="0">
              <a:lnSpc>
                <a:spcPct val="100000"/>
              </a:lnSpc>
              <a:spcBef>
                <a:spcPct val="0"/>
              </a:spcBef>
              <a:spcAft>
                <a:spcPct val="0"/>
              </a:spcAft>
              <a:buClrTx/>
              <a:buSzTx/>
              <a:tabLst/>
            </a:pPr>
            <a:r>
              <a:rPr lang="en-US" altLang="en-US" sz="2800" dirty="0">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speed and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 training methods: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Test models with normal and synthetic </a:t>
            </a:r>
          </a:p>
          <a:p>
            <a:pPr marL="0" marR="0" lvl="0" indent="0" algn="l" defTabSz="914400" rtl="0" eaLnBrk="0" fontAlgn="base" latinLnBrk="0" hangingPunct="0">
              <a:lnSpc>
                <a:spcPct val="100000"/>
              </a:lnSpc>
              <a:spcBef>
                <a:spcPct val="0"/>
              </a:spcBef>
              <a:spcAft>
                <a:spcPct val="0"/>
              </a:spcAft>
              <a:buClrTx/>
              <a:buSzTx/>
              <a:tabLst/>
            </a:pPr>
            <a:r>
              <a:rPr lang="en-US" altLang="en-US" sz="2800" dirty="0">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datasets find the best approach.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performance: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 accuracy, precision, and detection </a:t>
            </a:r>
          </a:p>
          <a:p>
            <a:pPr marL="0" marR="0" lvl="0" indent="0" algn="l" defTabSz="914400" rtl="0" eaLnBrk="0" fontAlgn="base" latinLnBrk="0" hangingPunct="0">
              <a:lnSpc>
                <a:spcPct val="100000"/>
              </a:lnSpc>
              <a:spcBef>
                <a:spcPct val="0"/>
              </a:spcBef>
              <a:spcAft>
                <a:spcPct val="0"/>
              </a:spcAft>
              <a:buClrTx/>
              <a:buSzTx/>
              <a:tabLst/>
            </a:pPr>
            <a:r>
              <a:rPr lang="en-US" altLang="en-US" sz="2800" dirty="0">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effectiveness. </a:t>
            </a:r>
          </a:p>
        </p:txBody>
      </p:sp>
      <p:sp>
        <p:nvSpPr>
          <p:cNvPr id="4" name="TextBox 3">
            <a:extLst>
              <a:ext uri="{FF2B5EF4-FFF2-40B4-BE49-F238E27FC236}">
                <a16:creationId xmlns:a16="http://schemas.microsoft.com/office/drawing/2014/main" id="{002048E2-6932-8700-5132-8605A5F116AD}"/>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1644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3623E-0A80-EE13-6315-93E6022621C9}"/>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C8FEB5E4-0057-9815-3A42-C586391A7CF2}"/>
              </a:ext>
            </a:extLst>
          </p:cNvPr>
          <p:cNvSpPr/>
          <p:nvPr/>
        </p:nvSpPr>
        <p:spPr>
          <a:xfrm>
            <a:off x="4346962" y="441939"/>
            <a:ext cx="3498073" cy="722314"/>
          </a:xfrm>
          <a:prstGeom prst="rect">
            <a:avLst/>
          </a:prstGeom>
        </p:spPr>
        <p:txBody>
          <a:bodyPr wrap="none">
            <a:spAutoFit/>
          </a:bodyPr>
          <a:lstStyle/>
          <a:p>
            <a:pPr algn="ctr">
              <a:lnSpc>
                <a:spcPts val="5312"/>
              </a:lnSpc>
            </a:pPr>
            <a:r>
              <a:rPr lang="en-US" sz="3600" b="1" dirty="0">
                <a:solidFill>
                  <a:srgbClr val="002060"/>
                </a:solidFill>
                <a:latin typeface="Times New Roman" pitchFamily="18" charset="0"/>
                <a:ea typeface="Libre Baskerville"/>
                <a:cs typeface="Times New Roman" pitchFamily="18" charset="0"/>
                <a:sym typeface="Libre Baskerville"/>
              </a:rPr>
              <a:t>OBJECTIVE </a:t>
            </a:r>
            <a:r>
              <a:rPr lang="en-US" sz="4000" b="1" dirty="0">
                <a:solidFill>
                  <a:srgbClr val="002060"/>
                </a:solidFill>
                <a:latin typeface="Times New Roman" pitchFamily="18" charset="0"/>
                <a:ea typeface="Libre Baskerville"/>
                <a:cs typeface="Times New Roman" pitchFamily="18" charset="0"/>
                <a:sym typeface="Libre Baskerville"/>
              </a:rPr>
              <a:t>-</a:t>
            </a:r>
            <a:r>
              <a:rPr lang="en-US" sz="3600" b="1" dirty="0">
                <a:solidFill>
                  <a:srgbClr val="002060"/>
                </a:solidFill>
                <a:latin typeface="Times New Roman" pitchFamily="18" charset="0"/>
                <a:ea typeface="Libre Baskerville"/>
                <a:cs typeface="Times New Roman" pitchFamily="18" charset="0"/>
                <a:sym typeface="Libre Baskerville"/>
              </a:rPr>
              <a:t> </a:t>
            </a:r>
            <a:r>
              <a:rPr lang="en-US" sz="3800" b="1" dirty="0">
                <a:solidFill>
                  <a:srgbClr val="002060"/>
                </a:solidFill>
                <a:latin typeface="Times New Roman" pitchFamily="18" charset="0"/>
                <a:ea typeface="Libre Baskerville"/>
                <a:cs typeface="Times New Roman" pitchFamily="18" charset="0"/>
                <a:sym typeface="Libre Baskerville"/>
              </a:rPr>
              <a:t>3</a:t>
            </a:r>
          </a:p>
        </p:txBody>
      </p:sp>
      <p:sp>
        <p:nvSpPr>
          <p:cNvPr id="3" name="TextBox 2">
            <a:extLst>
              <a:ext uri="{FF2B5EF4-FFF2-40B4-BE49-F238E27FC236}">
                <a16:creationId xmlns:a16="http://schemas.microsoft.com/office/drawing/2014/main" id="{6B47D002-D302-F5C0-04A8-436584C38F68}"/>
              </a:ext>
            </a:extLst>
          </p:cNvPr>
          <p:cNvSpPr txBox="1"/>
          <p:nvPr/>
        </p:nvSpPr>
        <p:spPr>
          <a:xfrm>
            <a:off x="449705" y="1394243"/>
            <a:ext cx="11287593" cy="646331"/>
          </a:xfrm>
          <a:prstGeom prst="rect">
            <a:avLst/>
          </a:prstGeom>
          <a:noFill/>
        </p:spPr>
        <p:txBody>
          <a:bodyPr wrap="square" rtlCol="0">
            <a:spAutoFit/>
          </a:bodyPr>
          <a:lstStyle/>
          <a:p>
            <a:r>
              <a:rPr lang="en-US" sz="3600" b="1" dirty="0"/>
              <a:t>Combine Models for a Final Vote and Evaluate</a:t>
            </a:r>
            <a:r>
              <a:rPr lang="en-US" sz="3600" dirty="0"/>
              <a:t> </a:t>
            </a:r>
            <a:endParaRPr lang="en-IN"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D4674F2-F983-E1F8-4596-FA6CC0921D99}"/>
              </a:ext>
            </a:extLst>
          </p:cNvPr>
          <p:cNvSpPr txBox="1"/>
          <p:nvPr/>
        </p:nvSpPr>
        <p:spPr>
          <a:xfrm>
            <a:off x="524470" y="2431197"/>
            <a:ext cx="11287593" cy="3539430"/>
          </a:xfrm>
          <a:prstGeom prst="rect">
            <a:avLst/>
          </a:prstGeom>
          <a:noFill/>
        </p:spPr>
        <p:txBody>
          <a:bodyPr wrap="square" rtlCol="0">
            <a:spAutoFit/>
          </a:bodyPr>
          <a:lstStyle/>
          <a:p>
            <a:pPr marL="457200" indent="-457200">
              <a:buFont typeface="Arial" panose="020B0604020202020204" pitchFamily="34" charset="0"/>
              <a:buChar char="•"/>
            </a:pPr>
            <a:r>
              <a:rPr lang="en-US" sz="2800" b="1" dirty="0"/>
              <a:t>Build ensemble voting:</a:t>
            </a:r>
            <a:r>
              <a:rPr lang="en-US" sz="2800" dirty="0"/>
              <a:t> Combine trained models using a majority voting system. </a:t>
            </a:r>
          </a:p>
          <a:p>
            <a:pPr marL="457200" indent="-457200">
              <a:buFont typeface="Arial" panose="020B0604020202020204" pitchFamily="34" charset="0"/>
              <a:buChar char="•"/>
            </a:pPr>
            <a:r>
              <a:rPr lang="en-US" sz="2800" b="1" dirty="0"/>
              <a:t>Improve reliability:</a:t>
            </a:r>
            <a:r>
              <a:rPr lang="en-US" sz="2800" dirty="0"/>
              <a:t> Use voting to reduce individual model errors. </a:t>
            </a:r>
          </a:p>
          <a:p>
            <a:pPr marL="457200" indent="-457200">
              <a:buFont typeface="Arial" panose="020B0604020202020204" pitchFamily="34" charset="0"/>
              <a:buChar char="•"/>
            </a:pPr>
            <a:r>
              <a:rPr lang="en-US" sz="2800" b="1" dirty="0"/>
              <a:t>Minimize false negatives:</a:t>
            </a:r>
            <a:r>
              <a:rPr lang="en-US" sz="2800" dirty="0"/>
              <a:t> Ensure TB cases are not incorrectly classified as healthy. </a:t>
            </a:r>
          </a:p>
          <a:p>
            <a:pPr marL="457200" indent="-457200">
              <a:buFont typeface="Arial" panose="020B0604020202020204" pitchFamily="34" charset="0"/>
              <a:buChar char="•"/>
            </a:pPr>
            <a:r>
              <a:rPr lang="en-US" sz="2800" b="1" dirty="0"/>
              <a:t>Enable real-world use:</a:t>
            </a:r>
            <a:r>
              <a:rPr lang="en-US" sz="2800" dirty="0"/>
              <a:t> Recommend deployment in hospitals and clinics with limited experts. </a:t>
            </a:r>
          </a:p>
        </p:txBody>
      </p:sp>
      <p:sp>
        <p:nvSpPr>
          <p:cNvPr id="5" name="TextBox 4">
            <a:extLst>
              <a:ext uri="{FF2B5EF4-FFF2-40B4-BE49-F238E27FC236}">
                <a16:creationId xmlns:a16="http://schemas.microsoft.com/office/drawing/2014/main" id="{7202537D-A830-76DC-90B9-14B9C85C290C}"/>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116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7ED4-CEDC-9342-BD0B-7A05737721BD}"/>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B4DA8E58-FEA2-B377-749F-D6C479E6CA3C}"/>
              </a:ext>
            </a:extLst>
          </p:cNvPr>
          <p:cNvSpPr/>
          <p:nvPr/>
        </p:nvSpPr>
        <p:spPr>
          <a:xfrm>
            <a:off x="4346962" y="441939"/>
            <a:ext cx="3498073" cy="722314"/>
          </a:xfrm>
          <a:prstGeom prst="rect">
            <a:avLst/>
          </a:prstGeom>
        </p:spPr>
        <p:txBody>
          <a:bodyPr wrap="none">
            <a:spAutoFit/>
          </a:bodyPr>
          <a:lstStyle/>
          <a:p>
            <a:pPr algn="ctr">
              <a:lnSpc>
                <a:spcPts val="5312"/>
              </a:lnSpc>
            </a:pPr>
            <a:r>
              <a:rPr lang="en-US" sz="3600" b="1" dirty="0">
                <a:solidFill>
                  <a:srgbClr val="002060"/>
                </a:solidFill>
                <a:latin typeface="Times New Roman" pitchFamily="18" charset="0"/>
                <a:ea typeface="Libre Baskerville"/>
                <a:cs typeface="Times New Roman" pitchFamily="18" charset="0"/>
                <a:sym typeface="Libre Baskerville"/>
              </a:rPr>
              <a:t>OBJECTIVE </a:t>
            </a:r>
            <a:r>
              <a:rPr lang="en-US" sz="4000" b="1" dirty="0">
                <a:solidFill>
                  <a:srgbClr val="002060"/>
                </a:solidFill>
                <a:latin typeface="Times New Roman" pitchFamily="18" charset="0"/>
                <a:ea typeface="Libre Baskerville"/>
                <a:cs typeface="Times New Roman" pitchFamily="18" charset="0"/>
                <a:sym typeface="Libre Baskerville"/>
              </a:rPr>
              <a:t>-</a:t>
            </a:r>
            <a:r>
              <a:rPr lang="en-US" sz="3600" b="1" dirty="0">
                <a:solidFill>
                  <a:srgbClr val="002060"/>
                </a:solidFill>
                <a:latin typeface="Times New Roman" pitchFamily="18" charset="0"/>
                <a:ea typeface="Libre Baskerville"/>
                <a:cs typeface="Times New Roman" pitchFamily="18" charset="0"/>
                <a:sym typeface="Libre Baskerville"/>
              </a:rPr>
              <a:t> </a:t>
            </a:r>
            <a:r>
              <a:rPr lang="en-US" sz="3800" b="1" dirty="0">
                <a:solidFill>
                  <a:srgbClr val="002060"/>
                </a:solidFill>
                <a:latin typeface="Times New Roman" pitchFamily="18" charset="0"/>
                <a:ea typeface="Libre Baskerville"/>
                <a:cs typeface="Times New Roman" pitchFamily="18" charset="0"/>
                <a:sym typeface="Libre Baskerville"/>
              </a:rPr>
              <a:t>4</a:t>
            </a:r>
          </a:p>
        </p:txBody>
      </p:sp>
      <p:sp>
        <p:nvSpPr>
          <p:cNvPr id="3" name="TextBox 2">
            <a:extLst>
              <a:ext uri="{FF2B5EF4-FFF2-40B4-BE49-F238E27FC236}">
                <a16:creationId xmlns:a16="http://schemas.microsoft.com/office/drawing/2014/main" id="{C01B1C39-DD6E-BC23-504A-139164921444}"/>
              </a:ext>
            </a:extLst>
          </p:cNvPr>
          <p:cNvSpPr txBox="1"/>
          <p:nvPr/>
        </p:nvSpPr>
        <p:spPr>
          <a:xfrm>
            <a:off x="904407" y="1339432"/>
            <a:ext cx="11287593"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Develop the User Interface and Connect the System</a:t>
            </a:r>
            <a:endParaRPr lang="en-IN"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7F9A222-112E-DD00-80C9-E4D7ECB4BE9A}"/>
              </a:ext>
            </a:extLst>
          </p:cNvPr>
          <p:cNvSpPr txBox="1"/>
          <p:nvPr/>
        </p:nvSpPr>
        <p:spPr>
          <a:xfrm>
            <a:off x="524470" y="2431197"/>
            <a:ext cx="11287593" cy="523220"/>
          </a:xfrm>
          <a:prstGeom prst="rect">
            <a:avLst/>
          </a:prstGeom>
          <a:noFill/>
        </p:spPr>
        <p:txBody>
          <a:bodyPr wrap="square" rtlCol="0">
            <a:spAutoFit/>
          </a:bodyPr>
          <a:lstStyle/>
          <a:p>
            <a:endParaRPr lang="en-US" sz="2800" dirty="0"/>
          </a:p>
        </p:txBody>
      </p:sp>
      <p:sp>
        <p:nvSpPr>
          <p:cNvPr id="5" name="Rectangle 1">
            <a:extLst>
              <a:ext uri="{FF2B5EF4-FFF2-40B4-BE49-F238E27FC236}">
                <a16:creationId xmlns:a16="http://schemas.microsoft.com/office/drawing/2014/main" id="{901E30CE-AC0E-80C7-A825-1441AE80B437}"/>
              </a:ext>
            </a:extLst>
          </p:cNvPr>
          <p:cNvSpPr>
            <a:spLocks noChangeArrowheads="1"/>
          </p:cNvSpPr>
          <p:nvPr/>
        </p:nvSpPr>
        <p:spPr bwMode="auto">
          <a:xfrm>
            <a:off x="596736" y="2431197"/>
            <a:ext cx="1114306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user interface: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 a simple web application for X-ray image uploads.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backend system:</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Connect uploaded images to trained deep learning models.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 instant results: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 TB-positive or normal predictions clearly.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 for deployment: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 fast and lightweight performance for clinic use.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87C726C-514A-2DAA-C215-3C0D3923D1B7}"/>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98025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023447-C94C-793B-40C5-36F191D63032}"/>
              </a:ext>
            </a:extLst>
          </p:cNvPr>
          <p:cNvSpPr txBox="1"/>
          <p:nvPr/>
        </p:nvSpPr>
        <p:spPr>
          <a:xfrm>
            <a:off x="3196652" y="2505670"/>
            <a:ext cx="6093500" cy="923330"/>
          </a:xfrm>
          <a:prstGeom prst="rect">
            <a:avLst/>
          </a:prstGeom>
          <a:noFill/>
        </p:spPr>
        <p:txBody>
          <a:bodyPr wrap="square">
            <a:spAutoFit/>
          </a:bodyPr>
          <a:lstStyle/>
          <a:p>
            <a:pPr algn="ctr"/>
            <a:r>
              <a:rPr lang="en-US" sz="5400" b="1" dirty="0">
                <a:solidFill>
                  <a:srgbClr val="002060"/>
                </a:solidFill>
                <a:latin typeface="Times New Roman" pitchFamily="18" charset="0"/>
                <a:ea typeface="Libre Baskerville"/>
                <a:cs typeface="Times New Roman" pitchFamily="18" charset="0"/>
                <a:sym typeface="Libre Baskerville"/>
              </a:rPr>
              <a:t>METHODOLOGY</a:t>
            </a:r>
          </a:p>
        </p:txBody>
      </p:sp>
      <p:sp>
        <p:nvSpPr>
          <p:cNvPr id="2" name="TextBox 1">
            <a:extLst>
              <a:ext uri="{FF2B5EF4-FFF2-40B4-BE49-F238E27FC236}">
                <a16:creationId xmlns:a16="http://schemas.microsoft.com/office/drawing/2014/main" id="{C371E099-E236-F222-CEE0-1C198ACBADC3}"/>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4218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5A6C0-7F24-5966-CB5D-37B9F2E0F850}"/>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0A004A8E-1C85-0DDC-F75B-6596B1E124C7}"/>
              </a:ext>
            </a:extLst>
          </p:cNvPr>
          <p:cNvSpPr/>
          <p:nvPr/>
        </p:nvSpPr>
        <p:spPr>
          <a:xfrm>
            <a:off x="4092884" y="176296"/>
            <a:ext cx="4006225" cy="646331"/>
          </a:xfrm>
          <a:prstGeom prst="rect">
            <a:avLst/>
          </a:prstGeom>
        </p:spPr>
        <p:txBody>
          <a:bodyPr wrap="none">
            <a:spAutoFit/>
          </a:bodyPr>
          <a:lstStyle/>
          <a:p>
            <a:pPr algn="ctr"/>
            <a:r>
              <a:rPr lang="en-US" sz="3600" b="1" dirty="0">
                <a:solidFill>
                  <a:srgbClr val="002060"/>
                </a:solidFill>
                <a:latin typeface="Times New Roman" pitchFamily="18" charset="0"/>
                <a:ea typeface="Libre Baskerville"/>
                <a:cs typeface="Times New Roman" pitchFamily="18" charset="0"/>
                <a:sym typeface="Libre Baskerville"/>
              </a:rPr>
              <a:t>METHODOLOGY</a:t>
            </a:r>
          </a:p>
        </p:txBody>
      </p:sp>
      <p:pic>
        <p:nvPicPr>
          <p:cNvPr id="3" name="Content Placeholder 3">
            <a:extLst>
              <a:ext uri="{FF2B5EF4-FFF2-40B4-BE49-F238E27FC236}">
                <a16:creationId xmlns:a16="http://schemas.microsoft.com/office/drawing/2014/main" id="{CC36BA49-A7DD-AEAA-C229-9DCEC70EBCAD}"/>
              </a:ext>
            </a:extLst>
          </p:cNvPr>
          <p:cNvPicPr>
            <a:picLocks noGrp="1" noChangeAspect="1"/>
          </p:cNvPicPr>
          <p:nvPr/>
        </p:nvPicPr>
        <p:blipFill>
          <a:blip r:embed="rId2"/>
          <a:stretch>
            <a:fillRect/>
          </a:stretch>
        </p:blipFill>
        <p:spPr>
          <a:xfrm>
            <a:off x="352424" y="822627"/>
            <a:ext cx="11487150" cy="5535911"/>
          </a:xfrm>
          <a:prstGeom prst="rect">
            <a:avLst/>
          </a:prstGeom>
        </p:spPr>
      </p:pic>
      <p:sp>
        <p:nvSpPr>
          <p:cNvPr id="4" name="TextBox 3">
            <a:extLst>
              <a:ext uri="{FF2B5EF4-FFF2-40B4-BE49-F238E27FC236}">
                <a16:creationId xmlns:a16="http://schemas.microsoft.com/office/drawing/2014/main" id="{211BAA8F-4226-70D3-0CB3-D479CA95FC6B}"/>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706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0CFEB-18F1-07AC-53A3-E43348763FD3}"/>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928902FB-BA45-6F98-E78E-808E4587E29E}"/>
              </a:ext>
            </a:extLst>
          </p:cNvPr>
          <p:cNvSpPr/>
          <p:nvPr/>
        </p:nvSpPr>
        <p:spPr>
          <a:xfrm>
            <a:off x="4092885" y="441939"/>
            <a:ext cx="4006225" cy="710259"/>
          </a:xfrm>
          <a:prstGeom prst="rect">
            <a:avLst/>
          </a:prstGeom>
        </p:spPr>
        <p:txBody>
          <a:bodyPr wrap="none">
            <a:spAutoFit/>
          </a:bodyPr>
          <a:lstStyle/>
          <a:p>
            <a:pPr algn="ctr">
              <a:lnSpc>
                <a:spcPts val="5312"/>
              </a:lnSpc>
            </a:pPr>
            <a:r>
              <a:rPr lang="en-US" sz="3600" b="1" dirty="0">
                <a:solidFill>
                  <a:srgbClr val="002060"/>
                </a:solidFill>
                <a:latin typeface="Times New Roman" pitchFamily="18" charset="0"/>
                <a:ea typeface="Libre Baskerville"/>
                <a:cs typeface="Times New Roman" pitchFamily="18" charset="0"/>
                <a:sym typeface="Libre Baskerville"/>
              </a:rPr>
              <a:t>METHODOLOGY</a:t>
            </a:r>
            <a:endParaRPr lang="en-US" sz="3800" b="1" dirty="0">
              <a:solidFill>
                <a:srgbClr val="002060"/>
              </a:solidFill>
              <a:latin typeface="Times New Roman" pitchFamily="18" charset="0"/>
              <a:ea typeface="Libre Baskerville"/>
              <a:cs typeface="Times New Roman" pitchFamily="18" charset="0"/>
              <a:sym typeface="Libre Baskerville"/>
            </a:endParaRPr>
          </a:p>
        </p:txBody>
      </p:sp>
      <p:sp>
        <p:nvSpPr>
          <p:cNvPr id="3" name="TextBox 2">
            <a:extLst>
              <a:ext uri="{FF2B5EF4-FFF2-40B4-BE49-F238E27FC236}">
                <a16:creationId xmlns:a16="http://schemas.microsoft.com/office/drawing/2014/main" id="{12E471EE-B04B-E6D9-2D7F-F15EFDC587EE}"/>
              </a:ext>
            </a:extLst>
          </p:cNvPr>
          <p:cNvSpPr txBox="1"/>
          <p:nvPr/>
        </p:nvSpPr>
        <p:spPr>
          <a:xfrm>
            <a:off x="1668906" y="1369849"/>
            <a:ext cx="8854443"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Data Preparation &amp; Augmentation Strategy</a:t>
            </a:r>
          </a:p>
        </p:txBody>
      </p:sp>
      <p:sp>
        <p:nvSpPr>
          <p:cNvPr id="4" name="TextBox 3">
            <a:extLst>
              <a:ext uri="{FF2B5EF4-FFF2-40B4-BE49-F238E27FC236}">
                <a16:creationId xmlns:a16="http://schemas.microsoft.com/office/drawing/2014/main" id="{069A5B26-02D4-DDAD-C011-80C0B33D5192}"/>
              </a:ext>
            </a:extLst>
          </p:cNvPr>
          <p:cNvSpPr txBox="1"/>
          <p:nvPr/>
        </p:nvSpPr>
        <p:spPr>
          <a:xfrm>
            <a:off x="524470" y="2431197"/>
            <a:ext cx="11287593" cy="523220"/>
          </a:xfrm>
          <a:prstGeom prst="rect">
            <a:avLst/>
          </a:prstGeom>
          <a:noFill/>
        </p:spPr>
        <p:txBody>
          <a:bodyPr wrap="square" rtlCol="0">
            <a:spAutoFit/>
          </a:bodyPr>
          <a:lstStyle/>
          <a:p>
            <a:endParaRPr lang="en-US" sz="2800" dirty="0"/>
          </a:p>
        </p:txBody>
      </p:sp>
      <p:sp>
        <p:nvSpPr>
          <p:cNvPr id="5" name="Rectangle 1">
            <a:extLst>
              <a:ext uri="{FF2B5EF4-FFF2-40B4-BE49-F238E27FC236}">
                <a16:creationId xmlns:a16="http://schemas.microsoft.com/office/drawing/2014/main" id="{CF33D639-19A7-B828-7BE6-3AE554D0EA45}"/>
              </a:ext>
            </a:extLst>
          </p:cNvPr>
          <p:cNvSpPr>
            <a:spLocks noChangeArrowheads="1"/>
          </p:cNvSpPr>
          <p:nvPr/>
        </p:nvSpPr>
        <p:spPr bwMode="auto">
          <a:xfrm>
            <a:off x="379937" y="3511649"/>
            <a:ext cx="111430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F5092B80-43D9-715A-FBF3-03C38FD3267A}"/>
              </a:ext>
            </a:extLst>
          </p:cNvPr>
          <p:cNvSpPr>
            <a:spLocks noChangeArrowheads="1"/>
          </p:cNvSpPr>
          <p:nvPr/>
        </p:nvSpPr>
        <p:spPr bwMode="auto">
          <a:xfrm>
            <a:off x="379937" y="1976883"/>
            <a:ext cx="1143212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pipeline: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 TB from chest X-rays without lung segmentation.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preparation: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4,200 NIH chest X-ray images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70%</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validation, and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 split.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preprocessing: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Apply resizing and pixel normalization for consistency.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augmentation: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rotation, flipping, scaling, and shifting techniques.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GAN-based synthesis: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 synthetic TB images to solve class imbalance. </a:t>
            </a:r>
          </a:p>
        </p:txBody>
      </p:sp>
      <p:sp>
        <p:nvSpPr>
          <p:cNvPr id="7" name="TextBox 6">
            <a:extLst>
              <a:ext uri="{FF2B5EF4-FFF2-40B4-BE49-F238E27FC236}">
                <a16:creationId xmlns:a16="http://schemas.microsoft.com/office/drawing/2014/main" id="{0E6A70DA-B3BC-CD86-7144-04F06CA1C657}"/>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3842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B1374-42FA-03E2-A4E9-FB8A143D5A83}"/>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DB007024-35D0-46F6-C2BE-BAFACBE2C4A2}"/>
              </a:ext>
            </a:extLst>
          </p:cNvPr>
          <p:cNvSpPr/>
          <p:nvPr/>
        </p:nvSpPr>
        <p:spPr>
          <a:xfrm>
            <a:off x="4092885" y="441939"/>
            <a:ext cx="4006225" cy="710259"/>
          </a:xfrm>
          <a:prstGeom prst="rect">
            <a:avLst/>
          </a:prstGeom>
        </p:spPr>
        <p:txBody>
          <a:bodyPr wrap="none">
            <a:spAutoFit/>
          </a:bodyPr>
          <a:lstStyle/>
          <a:p>
            <a:pPr algn="ctr">
              <a:lnSpc>
                <a:spcPts val="5312"/>
              </a:lnSpc>
            </a:pPr>
            <a:r>
              <a:rPr lang="en-US" sz="3600" b="1" dirty="0">
                <a:solidFill>
                  <a:srgbClr val="002060"/>
                </a:solidFill>
                <a:latin typeface="Times New Roman" pitchFamily="18" charset="0"/>
                <a:ea typeface="Libre Baskerville"/>
                <a:cs typeface="Times New Roman" pitchFamily="18" charset="0"/>
                <a:sym typeface="Libre Baskerville"/>
              </a:rPr>
              <a:t>METHODOLOGY</a:t>
            </a:r>
            <a:endParaRPr lang="en-US" sz="3800" b="1" dirty="0">
              <a:solidFill>
                <a:srgbClr val="002060"/>
              </a:solidFill>
              <a:latin typeface="Times New Roman" pitchFamily="18" charset="0"/>
              <a:ea typeface="Libre Baskerville"/>
              <a:cs typeface="Times New Roman" pitchFamily="18" charset="0"/>
              <a:sym typeface="Libre Baskerville"/>
            </a:endParaRPr>
          </a:p>
        </p:txBody>
      </p:sp>
      <p:sp>
        <p:nvSpPr>
          <p:cNvPr id="3" name="TextBox 2">
            <a:extLst>
              <a:ext uri="{FF2B5EF4-FFF2-40B4-BE49-F238E27FC236}">
                <a16:creationId xmlns:a16="http://schemas.microsoft.com/office/drawing/2014/main" id="{33E84031-F103-ABF6-E349-36FEF8BCCC28}"/>
              </a:ext>
            </a:extLst>
          </p:cNvPr>
          <p:cNvSpPr txBox="1"/>
          <p:nvPr/>
        </p:nvSpPr>
        <p:spPr>
          <a:xfrm>
            <a:off x="1981691" y="1372523"/>
            <a:ext cx="7939551"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Model Architecture &amp; Ensemble Voting</a:t>
            </a:r>
          </a:p>
        </p:txBody>
      </p:sp>
      <p:sp>
        <p:nvSpPr>
          <p:cNvPr id="4" name="TextBox 3">
            <a:extLst>
              <a:ext uri="{FF2B5EF4-FFF2-40B4-BE49-F238E27FC236}">
                <a16:creationId xmlns:a16="http://schemas.microsoft.com/office/drawing/2014/main" id="{DCAB734A-EE49-7D26-C52F-ABCEDC83D18D}"/>
              </a:ext>
            </a:extLst>
          </p:cNvPr>
          <p:cNvSpPr txBox="1"/>
          <p:nvPr/>
        </p:nvSpPr>
        <p:spPr>
          <a:xfrm>
            <a:off x="524470" y="2431197"/>
            <a:ext cx="11287593" cy="523220"/>
          </a:xfrm>
          <a:prstGeom prst="rect">
            <a:avLst/>
          </a:prstGeom>
          <a:noFill/>
        </p:spPr>
        <p:txBody>
          <a:bodyPr wrap="square" rtlCol="0">
            <a:spAutoFit/>
          </a:bodyPr>
          <a:lstStyle/>
          <a:p>
            <a:endParaRPr lang="en-US" sz="2800" dirty="0"/>
          </a:p>
        </p:txBody>
      </p:sp>
      <p:sp>
        <p:nvSpPr>
          <p:cNvPr id="5" name="Rectangle 1">
            <a:extLst>
              <a:ext uri="{FF2B5EF4-FFF2-40B4-BE49-F238E27FC236}">
                <a16:creationId xmlns:a16="http://schemas.microsoft.com/office/drawing/2014/main" id="{77F08193-3EEB-5CCC-12A9-091F08FF0B5A}"/>
              </a:ext>
            </a:extLst>
          </p:cNvPr>
          <p:cNvSpPr>
            <a:spLocks noChangeArrowheads="1"/>
          </p:cNvSpPr>
          <p:nvPr/>
        </p:nvSpPr>
        <p:spPr bwMode="auto">
          <a:xfrm>
            <a:off x="379937" y="3511649"/>
            <a:ext cx="111430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67B9F8EA-8B6C-CB92-F836-DC7D17BF26C2}"/>
              </a:ext>
            </a:extLst>
          </p:cNvPr>
          <p:cNvSpPr>
            <a:spLocks noChangeArrowheads="1"/>
          </p:cNvSpPr>
          <p:nvPr/>
        </p:nvSpPr>
        <p:spPr bwMode="auto">
          <a:xfrm>
            <a:off x="683374" y="2146160"/>
            <a:ext cx="10998527"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Transfer learning: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Initialize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DenseNet121</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ResNet50</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pre-trained ImageNet weights.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multiple models: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Evaluate standard and GAN-augmented model configurations.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voting: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majority voting from three models for final prediction.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diagnosis: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 false negatives and achieve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98.91% accuracy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AFCD5893-06C5-8D8C-F9CF-CEC6DA00CDBB}"/>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13853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p:cNvSpPr txBox="1"/>
          <p:nvPr/>
        </p:nvSpPr>
        <p:spPr>
          <a:xfrm>
            <a:off x="1834745" y="2450877"/>
            <a:ext cx="8522507" cy="830997"/>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cs typeface="Times New Roman" pitchFamily="18" charset="0"/>
              </a:rPr>
              <a:t>DATASET</a:t>
            </a:r>
            <a:endParaRPr lang="en-US" sz="5400" dirty="0">
              <a:solidFill>
                <a:srgbClr val="002060"/>
              </a:solidFill>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F2726A12-796B-6786-8729-3281B5E05409}"/>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1829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white graphic of a human skeleton">
            <a:hlinkClick r:id="rId2"/>
            <a:extLst>
              <a:ext uri="{FF2B5EF4-FFF2-40B4-BE49-F238E27FC236}">
                <a16:creationId xmlns:a16="http://schemas.microsoft.com/office/drawing/2014/main" id="{0F4744F5-8E3F-78BB-89C3-93116E23EFE9}"/>
              </a:ext>
            </a:extLst>
          </p:cNvPr>
          <p:cNvPicPr>
            <a:picLocks noChangeAspect="1"/>
          </p:cNvPicPr>
          <p:nvPr/>
        </p:nvPicPr>
        <p:blipFill>
          <a:blip r:embed="rId3"/>
          <a:stretch>
            <a:fillRect/>
          </a:stretch>
        </p:blipFill>
        <p:spPr>
          <a:xfrm>
            <a:off x="4233181" y="910395"/>
            <a:ext cx="3653057" cy="2909887"/>
          </a:xfrm>
          <a:prstGeom prst="rect">
            <a:avLst/>
          </a:prstGeom>
        </p:spPr>
      </p:pic>
      <p:sp>
        <p:nvSpPr>
          <p:cNvPr id="5" name="TextBox 4">
            <a:extLst>
              <a:ext uri="{FF2B5EF4-FFF2-40B4-BE49-F238E27FC236}">
                <a16:creationId xmlns:a16="http://schemas.microsoft.com/office/drawing/2014/main" id="{F6079F06-9005-E99C-C555-501112B13C74}"/>
              </a:ext>
            </a:extLst>
          </p:cNvPr>
          <p:cNvSpPr txBox="1"/>
          <p:nvPr/>
        </p:nvSpPr>
        <p:spPr>
          <a:xfrm>
            <a:off x="507996" y="3905554"/>
            <a:ext cx="11103429" cy="1292662"/>
          </a:xfrm>
          <a:prstGeom prst="rect">
            <a:avLst/>
          </a:prstGeom>
          <a:noFill/>
        </p:spPr>
        <p:txBody>
          <a:bodyPr wrap="square" rtlCol="0">
            <a:spAutoFit/>
          </a:bodyPr>
          <a:lstStyle/>
          <a:p>
            <a:pPr algn="ctr"/>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NIH Chest X-ray Dataset</a:t>
            </a:r>
            <a:r>
              <a:rPr lang="en-US" sz="2600" dirty="0">
                <a:latin typeface="Times New Roman" panose="02020603050405020304" pitchFamily="18" charset="0"/>
                <a:cs typeface="Times New Roman" panose="02020603050405020304" pitchFamily="18" charset="0"/>
              </a:rPr>
              <a:t> is a large public medical imaging dataset developed by the National Institutes of Health containing thousands of chest X-ray images.</a:t>
            </a:r>
            <a:endParaRPr lang="en-IN" sz="2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ABD0BB9-0C49-4C25-4EF8-5972B3532B54}"/>
              </a:ext>
            </a:extLst>
          </p:cNvPr>
          <p:cNvSpPr txBox="1"/>
          <p:nvPr/>
        </p:nvSpPr>
        <p:spPr>
          <a:xfrm>
            <a:off x="4804226" y="5368759"/>
            <a:ext cx="2510971" cy="523220"/>
          </a:xfrm>
          <a:prstGeom prst="rect">
            <a:avLst/>
          </a:prstGeom>
          <a:noFill/>
        </p:spPr>
        <p:txBody>
          <a:bodyPr wrap="square" rtlCol="0">
            <a:spAutoFit/>
          </a:bodyPr>
          <a:lstStyle/>
          <a:p>
            <a:r>
              <a:rPr lang="en-IN" sz="2800" b="1" dirty="0">
                <a:solidFill>
                  <a:srgbClr val="00206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CLICK HERE</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A125791-FB48-1568-4DF1-68ECFD81D42B}"/>
              </a:ext>
            </a:extLst>
          </p:cNvPr>
          <p:cNvSpPr txBox="1"/>
          <p:nvPr/>
        </p:nvSpPr>
        <p:spPr>
          <a:xfrm>
            <a:off x="5072740" y="240348"/>
            <a:ext cx="2242457"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DATASET</a:t>
            </a:r>
          </a:p>
        </p:txBody>
      </p:sp>
      <p:sp>
        <p:nvSpPr>
          <p:cNvPr id="2" name="TextBox 1">
            <a:extLst>
              <a:ext uri="{FF2B5EF4-FFF2-40B4-BE49-F238E27FC236}">
                <a16:creationId xmlns:a16="http://schemas.microsoft.com/office/drawing/2014/main" id="{3DC51DB2-17FA-417E-3CA2-810F570CE9CD}"/>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2793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48E49-9BDA-05BF-96BD-A85B55F9A6B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206268A-D5AD-427D-6944-F38F1F8D8338}"/>
              </a:ext>
            </a:extLst>
          </p:cNvPr>
          <p:cNvSpPr txBox="1"/>
          <p:nvPr/>
        </p:nvSpPr>
        <p:spPr>
          <a:xfrm>
            <a:off x="4053409" y="240348"/>
            <a:ext cx="4401044"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DATASET SPLITING</a:t>
            </a:r>
          </a:p>
        </p:txBody>
      </p:sp>
      <p:sp>
        <p:nvSpPr>
          <p:cNvPr id="2" name="TextBox 1">
            <a:extLst>
              <a:ext uri="{FF2B5EF4-FFF2-40B4-BE49-F238E27FC236}">
                <a16:creationId xmlns:a16="http://schemas.microsoft.com/office/drawing/2014/main" id="{20D0AC61-9C44-7D5F-1B90-D4DD5C921A17}"/>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3" name="Picture 2">
            <a:extLst>
              <a:ext uri="{FF2B5EF4-FFF2-40B4-BE49-F238E27FC236}">
                <a16:creationId xmlns:a16="http://schemas.microsoft.com/office/drawing/2014/main" id="{A1651358-76B4-7175-E49F-0639E5C24946}"/>
              </a:ext>
            </a:extLst>
          </p:cNvPr>
          <p:cNvPicPr>
            <a:picLocks noChangeAspect="1"/>
          </p:cNvPicPr>
          <p:nvPr/>
        </p:nvPicPr>
        <p:blipFill>
          <a:blip r:embed="rId2"/>
          <a:stretch>
            <a:fillRect/>
          </a:stretch>
        </p:blipFill>
        <p:spPr>
          <a:xfrm>
            <a:off x="1843790" y="1364566"/>
            <a:ext cx="8619343" cy="4586529"/>
          </a:xfrm>
          <a:prstGeom prst="rect">
            <a:avLst/>
          </a:prstGeom>
        </p:spPr>
      </p:pic>
    </p:spTree>
    <p:extLst>
      <p:ext uri="{BB962C8B-B14F-4D97-AF65-F5344CB8AC3E}">
        <p14:creationId xmlns:p14="http://schemas.microsoft.com/office/powerpoint/2010/main" val="4064682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C0791-72C6-3D1F-3821-19B7C616225B}"/>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B1283B86-C7F6-D059-AF60-E931DD978229}"/>
              </a:ext>
            </a:extLst>
          </p:cNvPr>
          <p:cNvSpPr txBox="1"/>
          <p:nvPr/>
        </p:nvSpPr>
        <p:spPr>
          <a:xfrm>
            <a:off x="2392235" y="2247677"/>
            <a:ext cx="8522507" cy="1661993"/>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cs typeface="Times New Roman" pitchFamily="18" charset="0"/>
              </a:rPr>
              <a:t>OUTPUTS FROM MODEL TRAINING</a:t>
            </a:r>
            <a:endParaRPr lang="en-US" sz="5400" dirty="0">
              <a:solidFill>
                <a:srgbClr val="002060"/>
              </a:solidFill>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AA501F93-BBE4-EAAE-A9E8-D7AF7C01591E}"/>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6318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
          <p:cNvSpPr txBox="1"/>
          <p:nvPr/>
        </p:nvSpPr>
        <p:spPr>
          <a:xfrm>
            <a:off x="2256917" y="524094"/>
            <a:ext cx="7678163" cy="553998"/>
          </a:xfrm>
          <a:prstGeom prst="rect">
            <a:avLst/>
          </a:prstGeom>
        </p:spPr>
        <p:txBody>
          <a:bodyPr wrap="square" lIns="0" tIns="0" rIns="0" bIns="0" rtlCol="0" anchor="t">
            <a:spAutoFit/>
          </a:bodyPr>
          <a:lstStyle/>
          <a:p>
            <a:pPr algn="ctr"/>
            <a:r>
              <a:rPr lang="en-IN" sz="3600" b="1" dirty="0">
                <a:solidFill>
                  <a:srgbClr val="002060"/>
                </a:solidFill>
                <a:latin typeface="Times New Roman" panose="02020603050405020304" pitchFamily="18" charset="0"/>
                <a:cs typeface="Times New Roman" panose="02020603050405020304" pitchFamily="18" charset="0"/>
              </a:rPr>
              <a:t>OUTPUT FOR NORMAL CLASS </a:t>
            </a:r>
            <a:endParaRPr lang="en-US" sz="3600" b="1" dirty="0">
              <a:solidFill>
                <a:srgbClr val="002060"/>
              </a:solidFill>
              <a:latin typeface="Times New Roman" pitchFamily="18" charset="0"/>
              <a:ea typeface="Libre Baskerville Bold"/>
              <a:cs typeface="Times New Roman" pitchFamily="18" charset="0"/>
              <a:sym typeface="Libre Baskerville Bold"/>
            </a:endParaRPr>
          </a:p>
        </p:txBody>
      </p:sp>
      <p:pic>
        <p:nvPicPr>
          <p:cNvPr id="4" name="Content Placeholder 3" descr="A screenshot of a computer&#10;&#10;AI-generated content may be incorrect.">
            <a:extLst>
              <a:ext uri="{FF2B5EF4-FFF2-40B4-BE49-F238E27FC236}">
                <a16:creationId xmlns:a16="http://schemas.microsoft.com/office/drawing/2014/main" id="{C6C31F47-544D-4698-618A-B0B19FEAC41F}"/>
              </a:ext>
            </a:extLst>
          </p:cNvPr>
          <p:cNvPicPr>
            <a:picLocks noGrp="1" noChangeAspect="1"/>
          </p:cNvPicPr>
          <p:nvPr/>
        </p:nvPicPr>
        <p:blipFill>
          <a:blip r:embed="rId2"/>
          <a:stretch>
            <a:fillRect/>
          </a:stretch>
        </p:blipFill>
        <p:spPr>
          <a:xfrm>
            <a:off x="1422398" y="1277256"/>
            <a:ext cx="9347200" cy="4615543"/>
          </a:xfrm>
          <a:prstGeom prst="rect">
            <a:avLst/>
          </a:prstGeom>
        </p:spPr>
      </p:pic>
      <p:sp>
        <p:nvSpPr>
          <p:cNvPr id="5" name="TextBox 4">
            <a:extLst>
              <a:ext uri="{FF2B5EF4-FFF2-40B4-BE49-F238E27FC236}">
                <a16:creationId xmlns:a16="http://schemas.microsoft.com/office/drawing/2014/main" id="{79CB48A0-CDE9-873E-FDCF-EB5007698B71}"/>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5116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2052E-2F78-5ED7-EF58-BF014894A653}"/>
            </a:ext>
          </a:extLst>
        </p:cNvPr>
        <p:cNvGrpSpPr/>
        <p:nvPr/>
      </p:nvGrpSpPr>
      <p:grpSpPr>
        <a:xfrm>
          <a:off x="0" y="0"/>
          <a:ext cx="0" cy="0"/>
          <a:chOff x="0" y="0"/>
          <a:chExt cx="0" cy="0"/>
        </a:xfrm>
      </p:grpSpPr>
      <p:sp>
        <p:nvSpPr>
          <p:cNvPr id="3" name="TextBox 13">
            <a:extLst>
              <a:ext uri="{FF2B5EF4-FFF2-40B4-BE49-F238E27FC236}">
                <a16:creationId xmlns:a16="http://schemas.microsoft.com/office/drawing/2014/main" id="{57C8C480-8BBD-BAC4-7012-C6F4F49131DE}"/>
              </a:ext>
            </a:extLst>
          </p:cNvPr>
          <p:cNvSpPr txBox="1"/>
          <p:nvPr/>
        </p:nvSpPr>
        <p:spPr>
          <a:xfrm>
            <a:off x="1440514" y="257518"/>
            <a:ext cx="9310969" cy="553998"/>
          </a:xfrm>
          <a:prstGeom prst="rect">
            <a:avLst/>
          </a:prstGeom>
        </p:spPr>
        <p:txBody>
          <a:bodyPr wrap="square" lIns="0" tIns="0" rIns="0" bIns="0" rtlCol="0" anchor="t">
            <a:spAutoFit/>
          </a:bodyPr>
          <a:lstStyle/>
          <a:p>
            <a:pPr algn="ctr"/>
            <a:r>
              <a:rPr lang="en-IN" sz="3600" b="1" dirty="0">
                <a:solidFill>
                  <a:srgbClr val="002060"/>
                </a:solidFill>
                <a:latin typeface="Times New Roman" panose="02020603050405020304" pitchFamily="18" charset="0"/>
                <a:cs typeface="Times New Roman" panose="02020603050405020304" pitchFamily="18" charset="0"/>
              </a:rPr>
              <a:t>OUTPUT FOR TUBERCOLOSIS POSITIVE</a:t>
            </a:r>
            <a:endParaRPr lang="en-US" sz="3600" b="1" dirty="0">
              <a:solidFill>
                <a:srgbClr val="002060"/>
              </a:solidFill>
              <a:latin typeface="Times New Roman" pitchFamily="18" charset="0"/>
              <a:ea typeface="Libre Baskerville Bold"/>
              <a:cs typeface="Times New Roman" pitchFamily="18" charset="0"/>
              <a:sym typeface="Libre Baskerville Bold"/>
            </a:endParaRPr>
          </a:p>
        </p:txBody>
      </p:sp>
      <p:pic>
        <p:nvPicPr>
          <p:cNvPr id="5" name="Content Placeholder 5" descr="A screenshot of a computer program&#10;&#10;AI-generated content may be incorrect.">
            <a:extLst>
              <a:ext uri="{FF2B5EF4-FFF2-40B4-BE49-F238E27FC236}">
                <a16:creationId xmlns:a16="http://schemas.microsoft.com/office/drawing/2014/main" id="{038DF51F-F02E-EF3E-F7EC-322EDC5E1249}"/>
              </a:ext>
            </a:extLst>
          </p:cNvPr>
          <p:cNvPicPr>
            <a:picLocks noGrp="1" noChangeAspect="1"/>
          </p:cNvPicPr>
          <p:nvPr/>
        </p:nvPicPr>
        <p:blipFill>
          <a:blip r:embed="rId2"/>
          <a:stretch>
            <a:fillRect/>
          </a:stretch>
        </p:blipFill>
        <p:spPr>
          <a:xfrm>
            <a:off x="1358885" y="957300"/>
            <a:ext cx="9474226" cy="5255455"/>
          </a:xfrm>
          <a:prstGeom prst="rect">
            <a:avLst/>
          </a:prstGeom>
        </p:spPr>
      </p:pic>
      <p:sp>
        <p:nvSpPr>
          <p:cNvPr id="4" name="TextBox 3">
            <a:extLst>
              <a:ext uri="{FF2B5EF4-FFF2-40B4-BE49-F238E27FC236}">
                <a16:creationId xmlns:a16="http://schemas.microsoft.com/office/drawing/2014/main" id="{44F49CEF-B78C-EEA3-FAC1-F56C6B48CBF3}"/>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4639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E82EC-E178-7537-6CD2-6F0D0EE13E0E}"/>
            </a:ext>
          </a:extLst>
        </p:cNvPr>
        <p:cNvGrpSpPr/>
        <p:nvPr/>
      </p:nvGrpSpPr>
      <p:grpSpPr>
        <a:xfrm>
          <a:off x="0" y="0"/>
          <a:ext cx="0" cy="0"/>
          <a:chOff x="0" y="0"/>
          <a:chExt cx="0" cy="0"/>
        </a:xfrm>
      </p:grpSpPr>
      <p:sp>
        <p:nvSpPr>
          <p:cNvPr id="3" name="TextBox 6">
            <a:extLst>
              <a:ext uri="{FF2B5EF4-FFF2-40B4-BE49-F238E27FC236}">
                <a16:creationId xmlns:a16="http://schemas.microsoft.com/office/drawing/2014/main" id="{CE50107C-09A9-36F6-B5B2-0006A42C710F}"/>
              </a:ext>
            </a:extLst>
          </p:cNvPr>
          <p:cNvSpPr txBox="1"/>
          <p:nvPr/>
        </p:nvSpPr>
        <p:spPr>
          <a:xfrm>
            <a:off x="2392235" y="2247677"/>
            <a:ext cx="8522507" cy="830997"/>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cs typeface="Times New Roman" pitchFamily="18" charset="0"/>
              </a:rPr>
              <a:t>EVALUATION OF MODEL</a:t>
            </a:r>
            <a:endParaRPr lang="en-US" sz="5400" dirty="0">
              <a:solidFill>
                <a:srgbClr val="002060"/>
              </a:solidFill>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378CC422-F56E-39FD-3674-B27AC1350ACE}"/>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1449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B8BC3-4589-06CE-2FC5-A7F35299ED9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3CB2A6E-09A4-5830-C41B-A208ABD86A77}"/>
              </a:ext>
            </a:extLst>
          </p:cNvPr>
          <p:cNvSpPr txBox="1"/>
          <p:nvPr/>
        </p:nvSpPr>
        <p:spPr>
          <a:xfrm>
            <a:off x="3468791" y="240348"/>
            <a:ext cx="5465345"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EVALUATION OF MODEL</a:t>
            </a:r>
          </a:p>
        </p:txBody>
      </p:sp>
      <p:sp>
        <p:nvSpPr>
          <p:cNvPr id="9" name="TextBox 8">
            <a:extLst>
              <a:ext uri="{FF2B5EF4-FFF2-40B4-BE49-F238E27FC236}">
                <a16:creationId xmlns:a16="http://schemas.microsoft.com/office/drawing/2014/main" id="{5C02D1F7-ED24-9DB5-7E8E-A7DECBBBA67F}"/>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0" name="Title 1">
            <a:extLst>
              <a:ext uri="{FF2B5EF4-FFF2-40B4-BE49-F238E27FC236}">
                <a16:creationId xmlns:a16="http://schemas.microsoft.com/office/drawing/2014/main" id="{3B6480A3-C6FE-2631-53D4-101A804B7836}"/>
              </a:ext>
            </a:extLst>
          </p:cNvPr>
          <p:cNvSpPr>
            <a:spLocks noGrp="1"/>
          </p:cNvSpPr>
          <p:nvPr/>
        </p:nvSpPr>
        <p:spPr>
          <a:xfrm>
            <a:off x="353902" y="1011586"/>
            <a:ext cx="6447501" cy="487680"/>
          </a:xfrm>
          <a:prstGeom prst="rect">
            <a:avLst/>
          </a:prstGeom>
        </p:spPr>
        <p:txBody>
          <a:bodyPr vert="horz" lIns="91440" tIns="45720" rIns="91440" bIns="45720" rtlCol="0" anchor="t">
            <a:normAutofit fontScale="97500"/>
          </a:bodyPr>
          <a:lst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dirty="0">
                <a:solidFill>
                  <a:srgbClr val="00B0F0"/>
                </a:solidFill>
                <a:latin typeface="Times New Roman" panose="02020603050405020304" pitchFamily="18" charset="0"/>
                <a:cs typeface="Times New Roman" panose="02020603050405020304" pitchFamily="18" charset="0"/>
              </a:rPr>
              <a:t>DENSENET121 CLASSIFICATION REPORT</a:t>
            </a:r>
          </a:p>
        </p:txBody>
      </p:sp>
      <p:pic>
        <p:nvPicPr>
          <p:cNvPr id="11" name="Content Placeholder 4">
            <a:extLst>
              <a:ext uri="{FF2B5EF4-FFF2-40B4-BE49-F238E27FC236}">
                <a16:creationId xmlns:a16="http://schemas.microsoft.com/office/drawing/2014/main" id="{C8776DC5-92CE-3FCE-8850-59747F81C028}"/>
              </a:ext>
            </a:extLst>
          </p:cNvPr>
          <p:cNvPicPr>
            <a:picLocks noGrp="1" noChangeAspect="1"/>
          </p:cNvPicPr>
          <p:nvPr/>
        </p:nvPicPr>
        <p:blipFill>
          <a:blip r:embed="rId2"/>
          <a:stretch>
            <a:fillRect/>
          </a:stretch>
        </p:blipFill>
        <p:spPr>
          <a:xfrm>
            <a:off x="1107709" y="1644077"/>
            <a:ext cx="9758597" cy="3897465"/>
          </a:xfrm>
          <a:prstGeom prst="rect">
            <a:avLst/>
          </a:prstGeom>
        </p:spPr>
      </p:pic>
    </p:spTree>
    <p:extLst>
      <p:ext uri="{BB962C8B-B14F-4D97-AF65-F5344CB8AC3E}">
        <p14:creationId xmlns:p14="http://schemas.microsoft.com/office/powerpoint/2010/main" val="1231902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E2AEC-FA68-08A5-6CEA-31C430C15B9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34A60F4-57D8-26DF-9F98-D153EC286BB9}"/>
              </a:ext>
            </a:extLst>
          </p:cNvPr>
          <p:cNvSpPr txBox="1"/>
          <p:nvPr/>
        </p:nvSpPr>
        <p:spPr>
          <a:xfrm>
            <a:off x="3468791" y="240348"/>
            <a:ext cx="5465345"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EVALUATION OF MODEL</a:t>
            </a:r>
          </a:p>
        </p:txBody>
      </p:sp>
      <p:sp>
        <p:nvSpPr>
          <p:cNvPr id="9" name="TextBox 8">
            <a:extLst>
              <a:ext uri="{FF2B5EF4-FFF2-40B4-BE49-F238E27FC236}">
                <a16:creationId xmlns:a16="http://schemas.microsoft.com/office/drawing/2014/main" id="{5E2E483F-727E-A283-48CB-E146CE10DC29}"/>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0" name="Title 1">
            <a:extLst>
              <a:ext uri="{FF2B5EF4-FFF2-40B4-BE49-F238E27FC236}">
                <a16:creationId xmlns:a16="http://schemas.microsoft.com/office/drawing/2014/main" id="{52A9C0B7-A130-A7C1-95A7-18F31FA7A8F6}"/>
              </a:ext>
            </a:extLst>
          </p:cNvPr>
          <p:cNvSpPr>
            <a:spLocks noGrp="1"/>
          </p:cNvSpPr>
          <p:nvPr/>
        </p:nvSpPr>
        <p:spPr>
          <a:xfrm>
            <a:off x="353902" y="757641"/>
            <a:ext cx="6447501" cy="487680"/>
          </a:xfrm>
          <a:prstGeom prst="rect">
            <a:avLst/>
          </a:prstGeom>
        </p:spPr>
        <p:txBody>
          <a:bodyPr vert="horz" lIns="91440" tIns="45720" rIns="91440" bIns="45720" rtlCol="0" anchor="t">
            <a:normAutofit fontScale="97500"/>
          </a:bodyPr>
          <a:lst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dirty="0">
                <a:solidFill>
                  <a:srgbClr val="00B0F0"/>
                </a:solidFill>
                <a:latin typeface="Times New Roman" panose="02020603050405020304" pitchFamily="18" charset="0"/>
                <a:cs typeface="Times New Roman" panose="02020603050405020304" pitchFamily="18" charset="0"/>
              </a:rPr>
              <a:t>DENSNET121 + GAN CLASSIFICATION REPORT</a:t>
            </a:r>
          </a:p>
        </p:txBody>
      </p:sp>
      <p:pic>
        <p:nvPicPr>
          <p:cNvPr id="3" name="Content Placeholder 4">
            <a:extLst>
              <a:ext uri="{FF2B5EF4-FFF2-40B4-BE49-F238E27FC236}">
                <a16:creationId xmlns:a16="http://schemas.microsoft.com/office/drawing/2014/main" id="{08B75C83-3585-4FD9-DFED-F78F984ED226}"/>
              </a:ext>
            </a:extLst>
          </p:cNvPr>
          <p:cNvPicPr>
            <a:picLocks noChangeAspect="1"/>
          </p:cNvPicPr>
          <p:nvPr/>
        </p:nvPicPr>
        <p:blipFill>
          <a:blip r:embed="rId2"/>
          <a:stretch>
            <a:fillRect/>
          </a:stretch>
        </p:blipFill>
        <p:spPr>
          <a:xfrm>
            <a:off x="999749" y="1198047"/>
            <a:ext cx="9974517" cy="2244152"/>
          </a:xfrm>
          <a:prstGeom prst="rect">
            <a:avLst/>
          </a:prstGeom>
        </p:spPr>
      </p:pic>
      <p:sp>
        <p:nvSpPr>
          <p:cNvPr id="4" name="Title 1">
            <a:extLst>
              <a:ext uri="{FF2B5EF4-FFF2-40B4-BE49-F238E27FC236}">
                <a16:creationId xmlns:a16="http://schemas.microsoft.com/office/drawing/2014/main" id="{D39F33C3-AC9F-C3AB-B563-678FC61DAA66}"/>
              </a:ext>
            </a:extLst>
          </p:cNvPr>
          <p:cNvSpPr>
            <a:spLocks noGrp="1"/>
          </p:cNvSpPr>
          <p:nvPr/>
        </p:nvSpPr>
        <p:spPr>
          <a:xfrm>
            <a:off x="353902" y="3638765"/>
            <a:ext cx="6447501" cy="487680"/>
          </a:xfrm>
          <a:prstGeom prst="rect">
            <a:avLst/>
          </a:prstGeom>
        </p:spPr>
        <p:txBody>
          <a:bodyPr vert="horz" lIns="91440" tIns="45720" rIns="91440" bIns="45720" rtlCol="0" anchor="t">
            <a:normAutofit fontScale="97500"/>
          </a:bodyPr>
          <a:lst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dirty="0">
                <a:solidFill>
                  <a:srgbClr val="00B0F0"/>
                </a:solidFill>
                <a:latin typeface="Times New Roman" panose="02020603050405020304" pitchFamily="18" charset="0"/>
                <a:cs typeface="Times New Roman" panose="02020603050405020304" pitchFamily="18" charset="0"/>
              </a:rPr>
              <a:t>RESNET 50 CLASSIFICATION REPORT</a:t>
            </a:r>
          </a:p>
        </p:txBody>
      </p:sp>
      <p:pic>
        <p:nvPicPr>
          <p:cNvPr id="5" name="Picture 4">
            <a:extLst>
              <a:ext uri="{FF2B5EF4-FFF2-40B4-BE49-F238E27FC236}">
                <a16:creationId xmlns:a16="http://schemas.microsoft.com/office/drawing/2014/main" id="{7CDE53BF-7D93-C3A1-F18C-313E1965C196}"/>
              </a:ext>
            </a:extLst>
          </p:cNvPr>
          <p:cNvPicPr>
            <a:picLocks noChangeAspect="1"/>
          </p:cNvPicPr>
          <p:nvPr/>
        </p:nvPicPr>
        <p:blipFill>
          <a:blip r:embed="rId3"/>
          <a:stretch>
            <a:fillRect/>
          </a:stretch>
        </p:blipFill>
        <p:spPr>
          <a:xfrm>
            <a:off x="999749" y="4126445"/>
            <a:ext cx="9974517" cy="2176669"/>
          </a:xfrm>
          <a:prstGeom prst="rect">
            <a:avLst/>
          </a:prstGeom>
        </p:spPr>
      </p:pic>
    </p:spTree>
    <p:extLst>
      <p:ext uri="{BB962C8B-B14F-4D97-AF65-F5344CB8AC3E}">
        <p14:creationId xmlns:p14="http://schemas.microsoft.com/office/powerpoint/2010/main" val="77941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p:cNvSpPr txBox="1"/>
          <p:nvPr/>
        </p:nvSpPr>
        <p:spPr>
          <a:xfrm>
            <a:off x="587828" y="2598003"/>
            <a:ext cx="11016343" cy="830997"/>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cs typeface="Times New Roman" pitchFamily="18" charset="0"/>
              </a:rPr>
              <a:t>SNAPSHOTS OF APPLICATION</a:t>
            </a:r>
          </a:p>
        </p:txBody>
      </p:sp>
      <p:sp>
        <p:nvSpPr>
          <p:cNvPr id="3" name="TextBox 2">
            <a:extLst>
              <a:ext uri="{FF2B5EF4-FFF2-40B4-BE49-F238E27FC236}">
                <a16:creationId xmlns:a16="http://schemas.microsoft.com/office/drawing/2014/main" id="{2A5CBDF7-B2F5-382E-2B52-044AE2E4066F}"/>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3633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1F17E2-5411-B01E-CB59-61AD44BD2AFA}"/>
              </a:ext>
            </a:extLst>
          </p:cNvPr>
          <p:cNvSpPr txBox="1"/>
          <p:nvPr/>
        </p:nvSpPr>
        <p:spPr>
          <a:xfrm>
            <a:off x="4898571" y="420915"/>
            <a:ext cx="2394857"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SNAPSHOT</a:t>
            </a:r>
          </a:p>
        </p:txBody>
      </p:sp>
      <p:pic>
        <p:nvPicPr>
          <p:cNvPr id="6" name="Picture 5" descr="A screenshot of a computer&#10;&#10;AI-generated content may be incorrect.">
            <a:extLst>
              <a:ext uri="{FF2B5EF4-FFF2-40B4-BE49-F238E27FC236}">
                <a16:creationId xmlns:a16="http://schemas.microsoft.com/office/drawing/2014/main" id="{3A8F25D2-5859-CD88-3F85-8CD7FC8D05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828" y="1005690"/>
            <a:ext cx="11480801" cy="5278996"/>
          </a:xfrm>
          <a:prstGeom prst="rect">
            <a:avLst/>
          </a:prstGeom>
        </p:spPr>
      </p:pic>
      <p:sp>
        <p:nvSpPr>
          <p:cNvPr id="3" name="TextBox 2">
            <a:extLst>
              <a:ext uri="{FF2B5EF4-FFF2-40B4-BE49-F238E27FC236}">
                <a16:creationId xmlns:a16="http://schemas.microsoft.com/office/drawing/2014/main" id="{227C3CF3-9D61-7ADB-AA2A-DE8FB1A23DD7}"/>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370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40FD-AC37-36EC-3A00-1CDDCD1224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E14A59-1F98-29E1-5511-A8488065F411}"/>
              </a:ext>
            </a:extLst>
          </p:cNvPr>
          <p:cNvSpPr txBox="1"/>
          <p:nvPr/>
        </p:nvSpPr>
        <p:spPr>
          <a:xfrm>
            <a:off x="4898571" y="420915"/>
            <a:ext cx="2394857"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SNAPSHOT</a:t>
            </a:r>
          </a:p>
        </p:txBody>
      </p:sp>
      <p:pic>
        <p:nvPicPr>
          <p:cNvPr id="5" name="Picture 4">
            <a:extLst>
              <a:ext uri="{FF2B5EF4-FFF2-40B4-BE49-F238E27FC236}">
                <a16:creationId xmlns:a16="http://schemas.microsoft.com/office/drawing/2014/main" id="{5904B41F-D3A8-2058-B50E-6314828DA5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370" y="1005690"/>
            <a:ext cx="11437259" cy="5278996"/>
          </a:xfrm>
          <a:prstGeom prst="rect">
            <a:avLst/>
          </a:prstGeom>
        </p:spPr>
      </p:pic>
      <p:sp>
        <p:nvSpPr>
          <p:cNvPr id="3" name="TextBox 2">
            <a:extLst>
              <a:ext uri="{FF2B5EF4-FFF2-40B4-BE49-F238E27FC236}">
                <a16:creationId xmlns:a16="http://schemas.microsoft.com/office/drawing/2014/main" id="{6A3E43AB-2A1A-8B7E-FDAC-9C5611A61624}"/>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4744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3FA0-A626-AB50-FCBA-237F08D6E5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7B15C5-42B0-01BB-FB18-14ACF22ED581}"/>
              </a:ext>
            </a:extLst>
          </p:cNvPr>
          <p:cNvSpPr txBox="1"/>
          <p:nvPr/>
        </p:nvSpPr>
        <p:spPr>
          <a:xfrm>
            <a:off x="4898571" y="420915"/>
            <a:ext cx="2394857"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SNAPSHOT</a:t>
            </a:r>
          </a:p>
        </p:txBody>
      </p:sp>
      <p:pic>
        <p:nvPicPr>
          <p:cNvPr id="5" name="Picture 4">
            <a:extLst>
              <a:ext uri="{FF2B5EF4-FFF2-40B4-BE49-F238E27FC236}">
                <a16:creationId xmlns:a16="http://schemas.microsoft.com/office/drawing/2014/main" id="{C74D0F39-2CFC-24E3-E11E-95C76B45F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343" y="1005690"/>
            <a:ext cx="11437258" cy="5293510"/>
          </a:xfrm>
          <a:prstGeom prst="rect">
            <a:avLst/>
          </a:prstGeom>
        </p:spPr>
      </p:pic>
      <p:sp>
        <p:nvSpPr>
          <p:cNvPr id="3" name="TextBox 2">
            <a:extLst>
              <a:ext uri="{FF2B5EF4-FFF2-40B4-BE49-F238E27FC236}">
                <a16:creationId xmlns:a16="http://schemas.microsoft.com/office/drawing/2014/main" id="{062EEA2D-3C6D-0EB0-D21E-1E8C7B028EBE}"/>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2861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E8E49-0FDE-09F0-CC3A-C89D1C8D12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48C3D9-4BB4-17B1-706B-C9425D6B7C2A}"/>
              </a:ext>
            </a:extLst>
          </p:cNvPr>
          <p:cNvSpPr txBox="1"/>
          <p:nvPr/>
        </p:nvSpPr>
        <p:spPr>
          <a:xfrm>
            <a:off x="4898571" y="420915"/>
            <a:ext cx="2394857"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SNAPSHOT</a:t>
            </a:r>
          </a:p>
        </p:txBody>
      </p:sp>
      <p:pic>
        <p:nvPicPr>
          <p:cNvPr id="5" name="Picture 4">
            <a:extLst>
              <a:ext uri="{FF2B5EF4-FFF2-40B4-BE49-F238E27FC236}">
                <a16:creationId xmlns:a16="http://schemas.microsoft.com/office/drawing/2014/main" id="{EB99AB59-27C1-2EB3-8720-6F04C63DD8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371" y="1005690"/>
            <a:ext cx="11422744" cy="5278996"/>
          </a:xfrm>
          <a:prstGeom prst="rect">
            <a:avLst/>
          </a:prstGeom>
        </p:spPr>
      </p:pic>
      <p:sp>
        <p:nvSpPr>
          <p:cNvPr id="3" name="TextBox 2">
            <a:extLst>
              <a:ext uri="{FF2B5EF4-FFF2-40B4-BE49-F238E27FC236}">
                <a16:creationId xmlns:a16="http://schemas.microsoft.com/office/drawing/2014/main" id="{97788F22-02AE-7D7C-700B-60FFB617221D}"/>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5638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F8FDF-F7A4-1426-FBEE-150AECCB7B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330D28-37D2-A3EA-653B-A5ED6337A96D}"/>
              </a:ext>
            </a:extLst>
          </p:cNvPr>
          <p:cNvSpPr txBox="1"/>
          <p:nvPr/>
        </p:nvSpPr>
        <p:spPr>
          <a:xfrm>
            <a:off x="4898571" y="420915"/>
            <a:ext cx="2394857"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SNAPSHOT</a:t>
            </a:r>
          </a:p>
        </p:txBody>
      </p:sp>
      <p:pic>
        <p:nvPicPr>
          <p:cNvPr id="5" name="Picture 4">
            <a:extLst>
              <a:ext uri="{FF2B5EF4-FFF2-40B4-BE49-F238E27FC236}">
                <a16:creationId xmlns:a16="http://schemas.microsoft.com/office/drawing/2014/main" id="{485A0980-7A4D-7110-F861-F2852BEDA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370" y="1005690"/>
            <a:ext cx="11379201" cy="5264481"/>
          </a:xfrm>
          <a:prstGeom prst="rect">
            <a:avLst/>
          </a:prstGeom>
        </p:spPr>
      </p:pic>
      <p:sp>
        <p:nvSpPr>
          <p:cNvPr id="3" name="TextBox 2">
            <a:extLst>
              <a:ext uri="{FF2B5EF4-FFF2-40B4-BE49-F238E27FC236}">
                <a16:creationId xmlns:a16="http://schemas.microsoft.com/office/drawing/2014/main" id="{09BFE85A-EB62-84D3-A72E-D8AFDCCC1AA3}"/>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6839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EF78D-63C2-8EED-BF1A-52AA120241D9}"/>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6529AC6C-C407-017D-EB1E-AB41D36BA2F2}"/>
              </a:ext>
            </a:extLst>
          </p:cNvPr>
          <p:cNvSpPr txBox="1"/>
          <p:nvPr/>
        </p:nvSpPr>
        <p:spPr>
          <a:xfrm>
            <a:off x="587828" y="2598003"/>
            <a:ext cx="11016343" cy="830997"/>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cs typeface="Times New Roman" pitchFamily="18" charset="0"/>
              </a:rPr>
              <a:t>CO-PO MAPPING</a:t>
            </a:r>
          </a:p>
        </p:txBody>
      </p:sp>
      <p:sp>
        <p:nvSpPr>
          <p:cNvPr id="3" name="TextBox 2">
            <a:extLst>
              <a:ext uri="{FF2B5EF4-FFF2-40B4-BE49-F238E27FC236}">
                <a16:creationId xmlns:a16="http://schemas.microsoft.com/office/drawing/2014/main" id="{29045B51-AFD4-5544-2715-9D2EED9ED0B9}"/>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0540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6513B-6ACC-FBEA-A37E-679291ED2935}"/>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914F20A3-56DA-D9BC-6E92-5525751C1547}"/>
              </a:ext>
            </a:extLst>
          </p:cNvPr>
          <p:cNvSpPr txBox="1"/>
          <p:nvPr/>
        </p:nvSpPr>
        <p:spPr>
          <a:xfrm>
            <a:off x="587827" y="2307717"/>
            <a:ext cx="11016343" cy="830997"/>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cs typeface="Times New Roman" pitchFamily="18" charset="0"/>
              </a:rPr>
              <a:t> </a:t>
            </a:r>
          </a:p>
        </p:txBody>
      </p:sp>
      <p:sp>
        <p:nvSpPr>
          <p:cNvPr id="3" name="TextBox 2">
            <a:extLst>
              <a:ext uri="{FF2B5EF4-FFF2-40B4-BE49-F238E27FC236}">
                <a16:creationId xmlns:a16="http://schemas.microsoft.com/office/drawing/2014/main" id="{C65D90AF-0D3B-3CF5-D3AB-E6DEE84152BE}"/>
              </a:ext>
            </a:extLst>
          </p:cNvPr>
          <p:cNvSpPr txBox="1"/>
          <p:nvPr/>
        </p:nvSpPr>
        <p:spPr>
          <a:xfrm>
            <a:off x="4005942" y="407677"/>
            <a:ext cx="3599543"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CO-PO MAPPING</a:t>
            </a:r>
          </a:p>
        </p:txBody>
      </p:sp>
      <p:pic>
        <p:nvPicPr>
          <p:cNvPr id="6" name="Picture 5">
            <a:extLst>
              <a:ext uri="{FF2B5EF4-FFF2-40B4-BE49-F238E27FC236}">
                <a16:creationId xmlns:a16="http://schemas.microsoft.com/office/drawing/2014/main" id="{5047A669-1C1A-222F-EE10-BBF56A562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771" y="992452"/>
            <a:ext cx="11582400" cy="5001948"/>
          </a:xfrm>
          <a:prstGeom prst="rect">
            <a:avLst/>
          </a:prstGeom>
        </p:spPr>
      </p:pic>
      <p:sp>
        <p:nvSpPr>
          <p:cNvPr id="5" name="TextBox 4">
            <a:extLst>
              <a:ext uri="{FF2B5EF4-FFF2-40B4-BE49-F238E27FC236}">
                <a16:creationId xmlns:a16="http://schemas.microsoft.com/office/drawing/2014/main" id="{3F3E882D-EBC8-889B-EC67-87BA1313DB22}"/>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8752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52D9D9-0FBC-4E1E-5C9C-4E58E80ED9E2}"/>
              </a:ext>
            </a:extLst>
          </p:cNvPr>
          <p:cNvSpPr txBox="1"/>
          <p:nvPr/>
        </p:nvSpPr>
        <p:spPr>
          <a:xfrm>
            <a:off x="3047999" y="2505670"/>
            <a:ext cx="6096000" cy="923330"/>
          </a:xfrm>
          <a:prstGeom prst="rect">
            <a:avLst/>
          </a:prstGeom>
          <a:noFill/>
        </p:spPr>
        <p:txBody>
          <a:bodyPr wrap="square">
            <a:spAutoFit/>
          </a:bodyPr>
          <a:lstStyle/>
          <a:p>
            <a:pPr algn="ctr"/>
            <a:r>
              <a:rPr lang="en-US" sz="5400" b="1" dirty="0">
                <a:solidFill>
                  <a:srgbClr val="002060"/>
                </a:solidFill>
                <a:latin typeface="Times New Roman" pitchFamily="18" charset="0"/>
                <a:cs typeface="Times New Roman" pitchFamily="18" charset="0"/>
              </a:rPr>
              <a:t>FUTURE SCOPE</a:t>
            </a:r>
          </a:p>
        </p:txBody>
      </p:sp>
      <p:sp>
        <p:nvSpPr>
          <p:cNvPr id="3" name="TextBox 2">
            <a:extLst>
              <a:ext uri="{FF2B5EF4-FFF2-40B4-BE49-F238E27FC236}">
                <a16:creationId xmlns:a16="http://schemas.microsoft.com/office/drawing/2014/main" id="{320EE8F2-F210-74E8-0F20-2041BAF1781A}"/>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89356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5EFC6-1810-3A42-0B8A-42ECDA624615}"/>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5FB0718E-7598-8066-36C7-4385421B38DE}"/>
              </a:ext>
            </a:extLst>
          </p:cNvPr>
          <p:cNvSpPr txBox="1"/>
          <p:nvPr/>
        </p:nvSpPr>
        <p:spPr>
          <a:xfrm>
            <a:off x="587827" y="2307717"/>
            <a:ext cx="11016343" cy="830997"/>
          </a:xfrm>
          <a:prstGeom prst="rect">
            <a:avLst/>
          </a:prstGeom>
        </p:spPr>
        <p:txBody>
          <a:bodyPr wrap="square" lIns="0" tIns="0" rIns="0" bIns="0" rtlCol="0" anchor="t">
            <a:spAutoFit/>
          </a:bodyPr>
          <a:lstStyle/>
          <a:p>
            <a:pPr algn="ctr"/>
            <a:r>
              <a:rPr lang="en-US" sz="5400" b="1" dirty="0">
                <a:solidFill>
                  <a:srgbClr val="002060"/>
                </a:solidFill>
                <a:latin typeface="Times New Roman" pitchFamily="18" charset="0"/>
                <a:cs typeface="Times New Roman" pitchFamily="18" charset="0"/>
              </a:rPr>
              <a:t> </a:t>
            </a:r>
          </a:p>
        </p:txBody>
      </p:sp>
      <p:sp>
        <p:nvSpPr>
          <p:cNvPr id="3" name="TextBox 2">
            <a:extLst>
              <a:ext uri="{FF2B5EF4-FFF2-40B4-BE49-F238E27FC236}">
                <a16:creationId xmlns:a16="http://schemas.microsoft.com/office/drawing/2014/main" id="{C8F974A6-B6EC-46BD-DA2B-642AC9D74E4A}"/>
              </a:ext>
            </a:extLst>
          </p:cNvPr>
          <p:cNvSpPr txBox="1"/>
          <p:nvPr/>
        </p:nvSpPr>
        <p:spPr>
          <a:xfrm>
            <a:off x="4296226" y="407677"/>
            <a:ext cx="3599543" cy="584775"/>
          </a:xfrm>
          <a:prstGeom prst="rect">
            <a:avLst/>
          </a:prstGeom>
          <a:noFill/>
        </p:spPr>
        <p:txBody>
          <a:bodyPr wrap="squar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FUTURE SCOPE</a:t>
            </a:r>
          </a:p>
        </p:txBody>
      </p:sp>
      <p:sp>
        <p:nvSpPr>
          <p:cNvPr id="7" name="TextBox 6">
            <a:extLst>
              <a:ext uri="{FF2B5EF4-FFF2-40B4-BE49-F238E27FC236}">
                <a16:creationId xmlns:a16="http://schemas.microsoft.com/office/drawing/2014/main" id="{033394C9-26E7-9399-7FD8-C2103210C307}"/>
              </a:ext>
            </a:extLst>
          </p:cNvPr>
          <p:cNvSpPr txBox="1"/>
          <p:nvPr/>
        </p:nvSpPr>
        <p:spPr>
          <a:xfrm>
            <a:off x="928914" y="1228397"/>
            <a:ext cx="10892970" cy="4401205"/>
          </a:xfrm>
          <a:prstGeom prst="rect">
            <a:avLst/>
          </a:prstGeom>
          <a:noFill/>
        </p:spPr>
        <p:txBody>
          <a:bodyPr wrap="square">
            <a:spAutoFit/>
          </a:bodyPr>
          <a:lstStyle/>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Multi-center validation:</a:t>
            </a:r>
            <a:r>
              <a:rPr lang="en-US" sz="2800" dirty="0">
                <a:latin typeface="Times New Roman" panose="02020603050405020304" pitchFamily="18" charset="0"/>
                <a:cs typeface="Times New Roman" panose="02020603050405020304" pitchFamily="18" charset="0"/>
              </a:rPr>
              <a:t> Test on datasets from multiple hospitals worldwide. </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Conditional GANs:</a:t>
            </a:r>
            <a:r>
              <a:rPr lang="en-US" sz="2800" dirty="0">
                <a:latin typeface="Times New Roman" panose="02020603050405020304" pitchFamily="18" charset="0"/>
                <a:cs typeface="Times New Roman" panose="02020603050405020304" pitchFamily="18" charset="0"/>
              </a:rPr>
              <a:t> Generate specific TB types for better rare case detection. </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Clinical evaluation:</a:t>
            </a:r>
            <a:r>
              <a:rPr lang="en-US" sz="2800" dirty="0">
                <a:latin typeface="Times New Roman" panose="02020603050405020304" pitchFamily="18" charset="0"/>
                <a:cs typeface="Times New Roman" panose="02020603050405020304" pitchFamily="18" charset="0"/>
              </a:rPr>
              <a:t> Test on real hospital patient data. </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Explainable AI:</a:t>
            </a:r>
            <a:r>
              <a:rPr lang="en-US" sz="2800" dirty="0">
                <a:latin typeface="Times New Roman" panose="02020603050405020304" pitchFamily="18" charset="0"/>
                <a:cs typeface="Times New Roman" panose="02020603050405020304" pitchFamily="18" charset="0"/>
              </a:rPr>
              <a:t> Use </a:t>
            </a:r>
            <a:r>
              <a:rPr lang="en-US" sz="2800" b="1" dirty="0">
                <a:latin typeface="Times New Roman" panose="02020603050405020304" pitchFamily="18" charset="0"/>
                <a:cs typeface="Times New Roman" panose="02020603050405020304" pitchFamily="18" charset="0"/>
              </a:rPr>
              <a:t>Grad-CAM</a:t>
            </a:r>
            <a:r>
              <a:rPr lang="en-US" sz="2800" dirty="0">
                <a:latin typeface="Times New Roman" panose="02020603050405020304" pitchFamily="18" charset="0"/>
                <a:cs typeface="Times New Roman" panose="02020603050405020304" pitchFamily="18" charset="0"/>
              </a:rPr>
              <a:t> to highlight affected X-ray regions. </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Multi-disease detection:</a:t>
            </a:r>
            <a:r>
              <a:rPr lang="en-US" sz="2800" dirty="0">
                <a:latin typeface="Times New Roman" panose="02020603050405020304" pitchFamily="18" charset="0"/>
                <a:cs typeface="Times New Roman" panose="02020603050405020304" pitchFamily="18" charset="0"/>
              </a:rPr>
              <a:t> Expand to classify TB, pneumonia, COVID-19, and lung cancer. </a:t>
            </a:r>
          </a:p>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Federated learning:</a:t>
            </a:r>
            <a:r>
              <a:rPr lang="en-US" sz="2800" dirty="0">
                <a:latin typeface="Times New Roman" panose="02020603050405020304" pitchFamily="18" charset="0"/>
                <a:cs typeface="Times New Roman" panose="02020603050405020304" pitchFamily="18" charset="0"/>
              </a:rPr>
              <a:t> Train across hospitals while preserving patient privacy. </a:t>
            </a:r>
          </a:p>
        </p:txBody>
      </p:sp>
      <p:sp>
        <p:nvSpPr>
          <p:cNvPr id="5" name="TextBox 4">
            <a:extLst>
              <a:ext uri="{FF2B5EF4-FFF2-40B4-BE49-F238E27FC236}">
                <a16:creationId xmlns:a16="http://schemas.microsoft.com/office/drawing/2014/main" id="{DBDC6C40-CAFF-5414-2F25-37621E239246}"/>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6263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C45F-5AA8-1FA4-6C5B-44E103C482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34377F-B4FA-FD50-D147-13BCE1F7F1A4}"/>
              </a:ext>
            </a:extLst>
          </p:cNvPr>
          <p:cNvSpPr txBox="1"/>
          <p:nvPr/>
        </p:nvSpPr>
        <p:spPr>
          <a:xfrm>
            <a:off x="3047999" y="2505670"/>
            <a:ext cx="6096000" cy="923330"/>
          </a:xfrm>
          <a:prstGeom prst="rect">
            <a:avLst/>
          </a:prstGeom>
          <a:noFill/>
        </p:spPr>
        <p:txBody>
          <a:bodyPr wrap="square">
            <a:spAutoFit/>
          </a:bodyPr>
          <a:lstStyle/>
          <a:p>
            <a:pPr algn="ctr"/>
            <a:r>
              <a:rPr lang="en-US" sz="5400" b="1" dirty="0">
                <a:solidFill>
                  <a:srgbClr val="002060"/>
                </a:solidFill>
                <a:latin typeface="Times New Roman" pitchFamily="18" charset="0"/>
                <a:cs typeface="Times New Roman" pitchFamily="18" charset="0"/>
              </a:rPr>
              <a:t>CONCLUSION</a:t>
            </a:r>
          </a:p>
        </p:txBody>
      </p:sp>
      <p:sp>
        <p:nvSpPr>
          <p:cNvPr id="3" name="TextBox 2">
            <a:extLst>
              <a:ext uri="{FF2B5EF4-FFF2-40B4-BE49-F238E27FC236}">
                <a16:creationId xmlns:a16="http://schemas.microsoft.com/office/drawing/2014/main" id="{ACCDAB03-44D3-3439-01D2-A583BDE3E1A3}"/>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36056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75136" y="1724683"/>
            <a:ext cx="10641723" cy="4154984"/>
          </a:xfrm>
          <a:prstGeom prst="rect">
            <a:avLst/>
          </a:prstGeom>
        </p:spPr>
        <p:txBody>
          <a:bodyPr wrap="square">
            <a:spAutoFit/>
          </a:bodyPr>
          <a:lstStyle/>
          <a:p>
            <a:pPr algn="just"/>
            <a:r>
              <a:rPr lang="en-US" sz="2400" dirty="0"/>
              <a:t>This work presents an automated Tuberculosis (TB) detection system using chest X-ray images and deep learning techniques. By integrating transfer learning with DenseNet121 and ResNet50, GAN-based data augmentation, and an ensemble majority voting approach, the system achieved high detection performance while reducing false negatives. The use of synthetic image generation successfully addressed class imbalance and improved model reliability. Additionally, eliminating lung segmentation reduced computational complexity, making the framework efficient and practical for real-world deployment. Overall, the proposed approach demonstrates strong potential for supporting early TB screening, particularly in resource-limited healthcare environments.</a:t>
            </a:r>
            <a:endParaRPr lang="en-IN" sz="2200" dirty="0">
              <a:latin typeface="Times New Roman" pitchFamily="18" charset="0"/>
              <a:cs typeface="Times New Roman" pitchFamily="18" charset="0"/>
            </a:endParaRPr>
          </a:p>
        </p:txBody>
      </p:sp>
      <p:sp>
        <p:nvSpPr>
          <p:cNvPr id="4" name="TextBox 6"/>
          <p:cNvSpPr txBox="1"/>
          <p:nvPr/>
        </p:nvSpPr>
        <p:spPr>
          <a:xfrm>
            <a:off x="4182494" y="490796"/>
            <a:ext cx="3827009" cy="755015"/>
          </a:xfrm>
          <a:prstGeom prst="rect">
            <a:avLst/>
          </a:prstGeom>
        </p:spPr>
        <p:txBody>
          <a:bodyPr wrap="square" lIns="0" tIns="0" rIns="0" bIns="0" rtlCol="0" anchor="t">
            <a:spAutoFit/>
          </a:bodyPr>
          <a:lstStyle/>
          <a:p>
            <a:pPr algn="ctr">
              <a:lnSpc>
                <a:spcPts val="6562"/>
              </a:lnSpc>
            </a:pPr>
            <a:r>
              <a:rPr lang="en-US" sz="4000" b="1" dirty="0">
                <a:solidFill>
                  <a:srgbClr val="002060"/>
                </a:solidFill>
                <a:latin typeface="Times New Roman" pitchFamily="18" charset="0"/>
                <a:ea typeface="Libre Baskerville"/>
                <a:cs typeface="Times New Roman" pitchFamily="18" charset="0"/>
                <a:sym typeface="Libre Baskerville"/>
              </a:rPr>
              <a:t>CONCLUSION</a:t>
            </a:r>
          </a:p>
        </p:txBody>
      </p:sp>
      <p:sp>
        <p:nvSpPr>
          <p:cNvPr id="5" name="TextBox 4">
            <a:extLst>
              <a:ext uri="{FF2B5EF4-FFF2-40B4-BE49-F238E27FC236}">
                <a16:creationId xmlns:a16="http://schemas.microsoft.com/office/drawing/2014/main" id="{76D89E9D-470B-906D-D99A-CB5CAB7768BB}"/>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2571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1402F4A-49A0-2BF0-AF28-81EEBA23A31E}"/>
              </a:ext>
            </a:extLst>
          </p:cNvPr>
          <p:cNvSpPr>
            <a:spLocks noGrp="1"/>
          </p:cNvSpPr>
          <p:nvPr/>
        </p:nvSpPr>
        <p:spPr>
          <a:xfrm>
            <a:off x="2743961" y="2474494"/>
            <a:ext cx="6704076" cy="136357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IN" sz="8000" b="1" dirty="0">
                <a:latin typeface="Forte" panose="03060902040502070203" pitchFamily="66" charset="0"/>
              </a:rPr>
              <a:t>THANK YOU</a:t>
            </a:r>
          </a:p>
        </p:txBody>
      </p:sp>
      <p:sp>
        <p:nvSpPr>
          <p:cNvPr id="2" name="TextBox 1">
            <a:extLst>
              <a:ext uri="{FF2B5EF4-FFF2-40B4-BE49-F238E27FC236}">
                <a16:creationId xmlns:a16="http://schemas.microsoft.com/office/drawing/2014/main" id="{6AF6A25A-AF25-FBF8-E1FC-A079EDC2F252}"/>
              </a:ext>
            </a:extLst>
          </p:cNvPr>
          <p:cNvSpPr txBox="1"/>
          <p:nvPr/>
        </p:nvSpPr>
        <p:spPr>
          <a:xfrm>
            <a:off x="3222885" y="6360497"/>
            <a:ext cx="5528247" cy="369332"/>
          </a:xfrm>
          <a:prstGeom prst="rect">
            <a:avLst/>
          </a:prstGeom>
          <a:noFill/>
        </p:spPr>
        <p:txBody>
          <a:bodyPr wrap="square">
            <a:spAutoFit/>
          </a:bodyPr>
          <a:lstStyle/>
          <a:p>
            <a:pPr>
              <a:tabLst>
                <a:tab pos="2637155" algn="ctr"/>
                <a:tab pos="5274310" algn="r"/>
              </a:tabLst>
            </a:pPr>
            <a:r>
              <a:rPr lang="en-US" sz="1800" b="1" dirty="0">
                <a:effectLst/>
                <a:latin typeface="Times New Roman" panose="02020603050405020304" pitchFamily="18" charset="0"/>
                <a:ea typeface="DengXian" panose="02010600030101010101" pitchFamily="2" charset="-122"/>
                <a:cs typeface="Times New Roman" panose="02020603050405020304" pitchFamily="18" charset="0"/>
              </a:rPr>
              <a:t>Department of Information Science and Engineering</a:t>
            </a:r>
            <a:endParaRPr lang="en-IN" sz="16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9273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741</TotalTime>
  <Words>1232</Words>
  <Application>Microsoft Office PowerPoint</Application>
  <PresentationFormat>Widescreen</PresentationFormat>
  <Paragraphs>154</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Calibri</vt:lpstr>
      <vt:lpstr>Forte</vt:lpstr>
      <vt:lpstr>Georgia</vt:lpstr>
      <vt:lpstr>Times New Roman</vt:lpstr>
      <vt:lpstr>Wingdings</vt:lpstr>
      <vt:lpstr>Wingdings 2</vt:lpstr>
      <vt:lpstr>Civic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hemanth B J</dc:creator>
  <cp:lastModifiedBy>vishwa bandhu</cp:lastModifiedBy>
  <cp:revision>71</cp:revision>
  <dcterms:created xsi:type="dcterms:W3CDTF">2025-06-24T14:15:55Z</dcterms:created>
  <dcterms:modified xsi:type="dcterms:W3CDTF">2026-05-21T02:22:56Z</dcterms:modified>
</cp:coreProperties>
</file>