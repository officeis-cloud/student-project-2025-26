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Times New Roman MT Bold" charset="1" panose="02030802070405020303"/>
      <p:regular r:id="rId19"/>
    </p:embeddedFont>
    <p:embeddedFont>
      <p:font typeface="Old Standard" charset="1" panose="02040503050505020303"/>
      <p:regular r:id="rId20"/>
    </p:embeddedFont>
    <p:embeddedFont>
      <p:font typeface="Times New Roman MT" charset="1" panose="02030502070405020303"/>
      <p:regular r:id="rId21"/>
    </p:embeddedFont>
    <p:embeddedFont>
      <p:font typeface="Carelia"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Freeform 2" id="2"/>
          <p:cNvSpPr/>
          <p:nvPr/>
        </p:nvSpPr>
        <p:spPr>
          <a:xfrm flipH="false" flipV="false" rot="0">
            <a:off x="0" y="179606"/>
            <a:ext cx="18288000" cy="2717480"/>
          </a:xfrm>
          <a:custGeom>
            <a:avLst/>
            <a:gdLst/>
            <a:ahLst/>
            <a:cxnLst/>
            <a:rect r="r" b="b" t="t" l="l"/>
            <a:pathLst>
              <a:path h="2717480" w="18288000">
                <a:moveTo>
                  <a:pt x="0" y="0"/>
                </a:moveTo>
                <a:lnTo>
                  <a:pt x="18288000" y="0"/>
                </a:lnTo>
                <a:lnTo>
                  <a:pt x="18288000" y="2717480"/>
                </a:lnTo>
                <a:lnTo>
                  <a:pt x="0" y="2717480"/>
                </a:lnTo>
                <a:lnTo>
                  <a:pt x="0" y="0"/>
                </a:lnTo>
                <a:close/>
              </a:path>
            </a:pathLst>
          </a:custGeom>
          <a:blipFill>
            <a:blip r:embed="rId2"/>
            <a:stretch>
              <a:fillRect l="0" t="0" r="0" b="-31230"/>
            </a:stretch>
          </a:blipFill>
        </p:spPr>
      </p:sp>
      <p:sp>
        <p:nvSpPr>
          <p:cNvPr name="TextBox 3" id="3"/>
          <p:cNvSpPr txBox="true"/>
          <p:nvPr/>
        </p:nvSpPr>
        <p:spPr>
          <a:xfrm rot="0">
            <a:off x="4290491" y="2231437"/>
            <a:ext cx="9192667" cy="437049"/>
          </a:xfrm>
          <a:prstGeom prst="rect">
            <a:avLst/>
          </a:prstGeom>
        </p:spPr>
        <p:txBody>
          <a:bodyPr anchor="t" rtlCol="false" tIns="0" lIns="0" bIns="0" rIns="0">
            <a:spAutoFit/>
          </a:bodyPr>
          <a:lstStyle/>
          <a:p>
            <a:pPr algn="ctr">
              <a:lnSpc>
                <a:spcPts val="3210"/>
              </a:lnSpc>
              <a:spcBef>
                <a:spcPct val="0"/>
              </a:spcBef>
            </a:pPr>
            <a:r>
              <a:rPr lang="en-US" b="true" sz="2293">
                <a:solidFill>
                  <a:srgbClr val="000000"/>
                </a:solidFill>
                <a:latin typeface="Times New Roman MT Bold"/>
                <a:ea typeface="Times New Roman MT Bold"/>
                <a:cs typeface="Times New Roman MT Bold"/>
                <a:sym typeface="Times New Roman MT Bold"/>
              </a:rPr>
              <a:t>DEPARTMENT OF INFORMATION SCIENCE AND ENGINEERING</a:t>
            </a:r>
          </a:p>
        </p:txBody>
      </p:sp>
      <p:sp>
        <p:nvSpPr>
          <p:cNvPr name="TextBox 4" id="4"/>
          <p:cNvSpPr txBox="true"/>
          <p:nvPr/>
        </p:nvSpPr>
        <p:spPr>
          <a:xfrm rot="0">
            <a:off x="2781503" y="3325711"/>
            <a:ext cx="13365928" cy="1443506"/>
          </a:xfrm>
          <a:prstGeom prst="rect">
            <a:avLst/>
          </a:prstGeom>
        </p:spPr>
        <p:txBody>
          <a:bodyPr anchor="t" rtlCol="false" tIns="0" lIns="0" bIns="0" rIns="0">
            <a:spAutoFit/>
          </a:bodyPr>
          <a:lstStyle/>
          <a:p>
            <a:pPr algn="ctr">
              <a:lnSpc>
                <a:spcPts val="5587"/>
              </a:lnSpc>
              <a:spcBef>
                <a:spcPct val="0"/>
              </a:spcBef>
            </a:pPr>
            <a:r>
              <a:rPr lang="en-US" b="true" sz="3991">
                <a:solidFill>
                  <a:srgbClr val="000000"/>
                </a:solidFill>
                <a:latin typeface="Times New Roman MT Bold"/>
                <a:ea typeface="Times New Roman MT Bold"/>
                <a:cs typeface="Times New Roman MT Bold"/>
                <a:sym typeface="Times New Roman MT Bold"/>
              </a:rPr>
              <a:t>“MULTILINGUAL FAKE </a:t>
            </a:r>
            <a:r>
              <a:rPr lang="en-US" b="true" sz="3991">
                <a:solidFill>
                  <a:srgbClr val="000000"/>
                </a:solidFill>
                <a:latin typeface="Times New Roman MT Bold"/>
                <a:ea typeface="Times New Roman MT Bold"/>
                <a:cs typeface="Times New Roman MT Bold"/>
                <a:sym typeface="Times New Roman MT Bold"/>
              </a:rPr>
              <a:t>NEWS DETECTION SYSTEM   WITH REAL-TIME WEB APPLICATION” </a:t>
            </a:r>
          </a:p>
        </p:txBody>
      </p:sp>
      <p:sp>
        <p:nvSpPr>
          <p:cNvPr name="TextBox 5" id="5"/>
          <p:cNvSpPr txBox="true"/>
          <p:nvPr/>
        </p:nvSpPr>
        <p:spPr>
          <a:xfrm rot="0">
            <a:off x="0" y="5358397"/>
            <a:ext cx="6196363" cy="851769"/>
          </a:xfrm>
          <a:prstGeom prst="rect">
            <a:avLst/>
          </a:prstGeom>
        </p:spPr>
        <p:txBody>
          <a:bodyPr anchor="t" rtlCol="false" tIns="0" lIns="0" bIns="0" rIns="0">
            <a:spAutoFit/>
          </a:bodyPr>
          <a:lstStyle/>
          <a:p>
            <a:pPr algn="ctr">
              <a:lnSpc>
                <a:spcPts val="6293"/>
              </a:lnSpc>
            </a:pPr>
            <a:r>
              <a:rPr lang="en-US" sz="4495" b="true">
                <a:solidFill>
                  <a:srgbClr val="000000"/>
                </a:solidFill>
                <a:latin typeface="Times New Roman MT Bold"/>
                <a:ea typeface="Times New Roman MT Bold"/>
                <a:cs typeface="Times New Roman MT Bold"/>
                <a:sym typeface="Times New Roman MT Bold"/>
              </a:rPr>
              <a:t>Presented by</a:t>
            </a:r>
          </a:p>
        </p:txBody>
      </p:sp>
      <p:sp>
        <p:nvSpPr>
          <p:cNvPr name="TextBox 6" id="6"/>
          <p:cNvSpPr txBox="true"/>
          <p:nvPr/>
        </p:nvSpPr>
        <p:spPr>
          <a:xfrm rot="0">
            <a:off x="1427049" y="8520972"/>
            <a:ext cx="6659987" cy="580020"/>
          </a:xfrm>
          <a:prstGeom prst="rect">
            <a:avLst/>
          </a:prstGeom>
        </p:spPr>
        <p:txBody>
          <a:bodyPr anchor="t" rtlCol="false" tIns="0" lIns="0" bIns="0" rIns="0">
            <a:spAutoFit/>
          </a:bodyPr>
          <a:lstStyle/>
          <a:p>
            <a:pPr algn="ctr">
              <a:lnSpc>
                <a:spcPts val="4299"/>
              </a:lnSpc>
            </a:pPr>
            <a:r>
              <a:rPr lang="en-US" sz="3071">
                <a:solidFill>
                  <a:srgbClr val="000000"/>
                </a:solidFill>
                <a:latin typeface="Old Standard"/>
                <a:ea typeface="Old Standard"/>
                <a:cs typeface="Old Standard"/>
                <a:sym typeface="Old Standard"/>
              </a:rPr>
              <a:t>Ruchitha M R(4PS22IS044)</a:t>
            </a:r>
          </a:p>
        </p:txBody>
      </p:sp>
      <p:sp>
        <p:nvSpPr>
          <p:cNvPr name="TextBox 7" id="7"/>
          <p:cNvSpPr txBox="true"/>
          <p:nvPr/>
        </p:nvSpPr>
        <p:spPr>
          <a:xfrm rot="0">
            <a:off x="2057697" y="7948133"/>
            <a:ext cx="6345420" cy="580020"/>
          </a:xfrm>
          <a:prstGeom prst="rect">
            <a:avLst/>
          </a:prstGeom>
        </p:spPr>
        <p:txBody>
          <a:bodyPr anchor="t" rtlCol="false" tIns="0" lIns="0" bIns="0" rIns="0">
            <a:spAutoFit/>
          </a:bodyPr>
          <a:lstStyle/>
          <a:p>
            <a:pPr algn="ctr">
              <a:lnSpc>
                <a:spcPts val="4299"/>
              </a:lnSpc>
            </a:pPr>
            <a:r>
              <a:rPr lang="en-US" sz="3071">
                <a:solidFill>
                  <a:srgbClr val="000000"/>
                </a:solidFill>
                <a:latin typeface="Old Standard"/>
                <a:ea typeface="Old Standard"/>
                <a:cs typeface="Old Standard"/>
                <a:sym typeface="Old Standard"/>
              </a:rPr>
              <a:t>Nuthan Gowda A P(4PS22IS038)</a:t>
            </a:r>
          </a:p>
        </p:txBody>
      </p:sp>
      <p:sp>
        <p:nvSpPr>
          <p:cNvPr name="TextBox 8" id="8"/>
          <p:cNvSpPr txBox="true"/>
          <p:nvPr/>
        </p:nvSpPr>
        <p:spPr>
          <a:xfrm rot="0">
            <a:off x="1777810" y="7368636"/>
            <a:ext cx="5025361" cy="580020"/>
          </a:xfrm>
          <a:prstGeom prst="rect">
            <a:avLst/>
          </a:prstGeom>
        </p:spPr>
        <p:txBody>
          <a:bodyPr anchor="t" rtlCol="false" tIns="0" lIns="0" bIns="0" rIns="0">
            <a:spAutoFit/>
          </a:bodyPr>
          <a:lstStyle/>
          <a:p>
            <a:pPr algn="ctr">
              <a:lnSpc>
                <a:spcPts val="4299"/>
              </a:lnSpc>
            </a:pPr>
            <a:r>
              <a:rPr lang="en-US" sz="3071">
                <a:solidFill>
                  <a:srgbClr val="000000"/>
                </a:solidFill>
                <a:latin typeface="Old Standard"/>
                <a:ea typeface="Old Standard"/>
                <a:cs typeface="Old Standard"/>
                <a:sym typeface="Old Standard"/>
              </a:rPr>
              <a:t>Kushal S(4PS22IS030)</a:t>
            </a:r>
          </a:p>
        </p:txBody>
      </p:sp>
      <p:sp>
        <p:nvSpPr>
          <p:cNvPr name="TextBox 9" id="9"/>
          <p:cNvSpPr txBox="true"/>
          <p:nvPr/>
        </p:nvSpPr>
        <p:spPr>
          <a:xfrm rot="0">
            <a:off x="1335295" y="6789140"/>
            <a:ext cx="6843496" cy="580020"/>
          </a:xfrm>
          <a:prstGeom prst="rect">
            <a:avLst/>
          </a:prstGeom>
        </p:spPr>
        <p:txBody>
          <a:bodyPr anchor="t" rtlCol="false" tIns="0" lIns="0" bIns="0" rIns="0">
            <a:spAutoFit/>
          </a:bodyPr>
          <a:lstStyle/>
          <a:p>
            <a:pPr algn="ctr">
              <a:lnSpc>
                <a:spcPts val="4299"/>
              </a:lnSpc>
            </a:pPr>
            <a:r>
              <a:rPr lang="en-US" sz="3071">
                <a:solidFill>
                  <a:srgbClr val="000000"/>
                </a:solidFill>
                <a:latin typeface="Old Standard"/>
                <a:ea typeface="Old Standard"/>
                <a:cs typeface="Old Standard"/>
                <a:sym typeface="Old Standard"/>
              </a:rPr>
              <a:t>Anand Reddy (4PS22IS005)</a:t>
            </a:r>
          </a:p>
        </p:txBody>
      </p:sp>
      <p:sp>
        <p:nvSpPr>
          <p:cNvPr name="TextBox 10" id="10"/>
          <p:cNvSpPr txBox="true"/>
          <p:nvPr/>
        </p:nvSpPr>
        <p:spPr>
          <a:xfrm rot="0">
            <a:off x="11764688" y="5419663"/>
            <a:ext cx="5046166" cy="790504"/>
          </a:xfrm>
          <a:prstGeom prst="rect">
            <a:avLst/>
          </a:prstGeom>
        </p:spPr>
        <p:txBody>
          <a:bodyPr anchor="t" rtlCol="false" tIns="0" lIns="0" bIns="0" rIns="0">
            <a:spAutoFit/>
          </a:bodyPr>
          <a:lstStyle/>
          <a:p>
            <a:pPr algn="ctr">
              <a:lnSpc>
                <a:spcPts val="5778"/>
              </a:lnSpc>
            </a:pPr>
            <a:r>
              <a:rPr lang="en-US" sz="4127" b="true">
                <a:solidFill>
                  <a:srgbClr val="000000"/>
                </a:solidFill>
                <a:latin typeface="Times New Roman MT Bold"/>
                <a:ea typeface="Times New Roman MT Bold"/>
                <a:cs typeface="Times New Roman MT Bold"/>
                <a:sym typeface="Times New Roman MT Bold"/>
              </a:rPr>
              <a:t>Under the Guidence Of</a:t>
            </a:r>
          </a:p>
        </p:txBody>
      </p:sp>
      <p:sp>
        <p:nvSpPr>
          <p:cNvPr name="TextBox 11" id="11"/>
          <p:cNvSpPr txBox="true"/>
          <p:nvPr/>
        </p:nvSpPr>
        <p:spPr>
          <a:xfrm rot="0">
            <a:off x="11764688" y="6647623"/>
            <a:ext cx="5046166" cy="1994397"/>
          </a:xfrm>
          <a:prstGeom prst="rect">
            <a:avLst/>
          </a:prstGeom>
        </p:spPr>
        <p:txBody>
          <a:bodyPr anchor="t" rtlCol="false" tIns="0" lIns="0" bIns="0" rIns="0">
            <a:spAutoFit/>
          </a:bodyPr>
          <a:lstStyle/>
          <a:p>
            <a:pPr algn="ctr">
              <a:lnSpc>
                <a:spcPts val="5106"/>
              </a:lnSpc>
            </a:pPr>
            <a:r>
              <a:rPr lang="en-US" sz="3647">
                <a:solidFill>
                  <a:srgbClr val="000000"/>
                </a:solidFill>
                <a:latin typeface="Times New Roman MT"/>
                <a:ea typeface="Times New Roman MT"/>
                <a:cs typeface="Times New Roman MT"/>
                <a:sym typeface="Times New Roman MT"/>
              </a:rPr>
              <a:t>Dr.Suresh M R</a:t>
            </a:r>
          </a:p>
          <a:p>
            <a:pPr algn="ctr">
              <a:lnSpc>
                <a:spcPts val="5106"/>
              </a:lnSpc>
            </a:pPr>
            <a:r>
              <a:rPr lang="en-US" sz="3647">
                <a:solidFill>
                  <a:srgbClr val="000000"/>
                </a:solidFill>
                <a:latin typeface="Times New Roman MT"/>
                <a:ea typeface="Times New Roman MT"/>
                <a:cs typeface="Times New Roman MT"/>
                <a:sym typeface="Times New Roman MT"/>
              </a:rPr>
              <a:t> Professor</a:t>
            </a:r>
          </a:p>
          <a:p>
            <a:pPr algn="ctr">
              <a:lnSpc>
                <a:spcPts val="5106"/>
              </a:lnSpc>
            </a:pPr>
            <a:r>
              <a:rPr lang="en-US" sz="3647">
                <a:solidFill>
                  <a:srgbClr val="000000"/>
                </a:solidFill>
                <a:latin typeface="Times New Roman MT"/>
                <a:ea typeface="Times New Roman MT"/>
                <a:cs typeface="Times New Roman MT"/>
                <a:sym typeface="Times New Roman MT"/>
              </a:rPr>
              <a:t>Deptof IS&amp;E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841153" y="1909236"/>
            <a:ext cx="16418147" cy="7349064"/>
            <a:chOff x="0" y="0"/>
            <a:chExt cx="4324121" cy="1935556"/>
          </a:xfrm>
        </p:grpSpPr>
        <p:sp>
          <p:nvSpPr>
            <p:cNvPr name="Freeform 4" id="4"/>
            <p:cNvSpPr/>
            <p:nvPr/>
          </p:nvSpPr>
          <p:spPr>
            <a:xfrm flipH="false" flipV="false" rot="0">
              <a:off x="0" y="0"/>
              <a:ext cx="4324121" cy="1935556"/>
            </a:xfrm>
            <a:custGeom>
              <a:avLst/>
              <a:gdLst/>
              <a:ahLst/>
              <a:cxnLst/>
              <a:rect r="r" b="b" t="t" l="l"/>
              <a:pathLst>
                <a:path h="1935556" w="4324121">
                  <a:moveTo>
                    <a:pt x="0" y="0"/>
                  </a:moveTo>
                  <a:lnTo>
                    <a:pt x="4324121" y="0"/>
                  </a:lnTo>
                  <a:lnTo>
                    <a:pt x="4324121" y="1935556"/>
                  </a:lnTo>
                  <a:lnTo>
                    <a:pt x="0" y="1935556"/>
                  </a:lnTo>
                  <a:close/>
                </a:path>
              </a:pathLst>
            </a:custGeom>
            <a:solidFill>
              <a:srgbClr val="FFFFFF"/>
            </a:solidFill>
            <a:ln w="38100" cap="sq">
              <a:solidFill>
                <a:srgbClr val="000000"/>
              </a:solidFill>
              <a:prstDash val="solid"/>
              <a:miter/>
            </a:ln>
          </p:spPr>
        </p:sp>
        <p:sp>
          <p:nvSpPr>
            <p:cNvPr name="TextBox 5" id="5"/>
            <p:cNvSpPr txBox="true"/>
            <p:nvPr/>
          </p:nvSpPr>
          <p:spPr>
            <a:xfrm>
              <a:off x="0" y="-76200"/>
              <a:ext cx="4324121" cy="2011756"/>
            </a:xfrm>
            <a:prstGeom prst="rect">
              <a:avLst/>
            </a:prstGeom>
          </p:spPr>
          <p:txBody>
            <a:bodyPr anchor="ctr" rtlCol="false" tIns="50800" lIns="50800" bIns="50800" rIns="50800"/>
            <a:lstStyle/>
            <a:p>
              <a:pPr algn="ctr">
                <a:lnSpc>
                  <a:spcPts val="3210"/>
                </a:lnSpc>
              </a:pPr>
            </a:p>
          </p:txBody>
        </p:sp>
      </p:grpSp>
      <p:sp>
        <p:nvSpPr>
          <p:cNvPr name="Freeform 6" id="6"/>
          <p:cNvSpPr/>
          <p:nvPr/>
        </p:nvSpPr>
        <p:spPr>
          <a:xfrm flipH="true" flipV="false" rot="0">
            <a:off x="15152613" y="331488"/>
            <a:ext cx="2589465" cy="1883247"/>
          </a:xfrm>
          <a:custGeom>
            <a:avLst/>
            <a:gdLst/>
            <a:ahLst/>
            <a:cxnLst/>
            <a:rect r="r" b="b" t="t" l="l"/>
            <a:pathLst>
              <a:path h="1883247" w="2589465">
                <a:moveTo>
                  <a:pt x="2589465" y="0"/>
                </a:moveTo>
                <a:lnTo>
                  <a:pt x="0" y="0"/>
                </a:lnTo>
                <a:lnTo>
                  <a:pt x="0" y="1883247"/>
                </a:lnTo>
                <a:lnTo>
                  <a:pt x="2589465" y="1883247"/>
                </a:lnTo>
                <a:lnTo>
                  <a:pt x="258946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41153" y="495248"/>
            <a:ext cx="7524351" cy="962129"/>
          </a:xfrm>
          <a:prstGeom prst="rect">
            <a:avLst/>
          </a:prstGeom>
        </p:spPr>
        <p:txBody>
          <a:bodyPr anchor="t" rtlCol="false" tIns="0" lIns="0" bIns="0" rIns="0">
            <a:spAutoFit/>
          </a:bodyPr>
          <a:lstStyle/>
          <a:p>
            <a:pPr algn="ctr" marL="0" indent="0" lvl="0">
              <a:lnSpc>
                <a:spcPts val="7896"/>
              </a:lnSpc>
              <a:spcBef>
                <a:spcPct val="0"/>
              </a:spcBef>
            </a:pPr>
            <a:r>
              <a:rPr lang="en-US" sz="5640">
                <a:solidFill>
                  <a:srgbClr val="01070A"/>
                </a:solidFill>
                <a:latin typeface="Carelia"/>
                <a:ea typeface="Carelia"/>
                <a:cs typeface="Carelia"/>
                <a:sym typeface="Carelia"/>
              </a:rPr>
              <a:t>Problem Statements</a:t>
            </a:r>
          </a:p>
        </p:txBody>
      </p:sp>
      <p:sp>
        <p:nvSpPr>
          <p:cNvPr name="TextBox 8" id="8"/>
          <p:cNvSpPr txBox="true"/>
          <p:nvPr/>
        </p:nvSpPr>
        <p:spPr>
          <a:xfrm rot="0">
            <a:off x="1449277" y="2409536"/>
            <a:ext cx="14998069" cy="3835789"/>
          </a:xfrm>
          <a:prstGeom prst="rect">
            <a:avLst/>
          </a:prstGeom>
        </p:spPr>
        <p:txBody>
          <a:bodyPr anchor="t" rtlCol="false" tIns="0" lIns="0" bIns="0" rIns="0">
            <a:spAutoFit/>
          </a:bodyPr>
          <a:lstStyle/>
          <a:p>
            <a:pPr algn="just">
              <a:lnSpc>
                <a:spcPts val="4273"/>
              </a:lnSpc>
            </a:pPr>
            <a:r>
              <a:rPr lang="en-US" sz="3052">
                <a:solidFill>
                  <a:srgbClr val="01070A"/>
                </a:solidFill>
                <a:latin typeface="Times New Roman MT"/>
                <a:ea typeface="Times New Roman MT"/>
                <a:cs typeface="Times New Roman MT"/>
                <a:sym typeface="Times New Roman MT"/>
              </a:rPr>
              <a:t>Modern</a:t>
            </a:r>
            <a:r>
              <a:rPr lang="en-US" sz="3052">
                <a:solidFill>
                  <a:srgbClr val="01070A"/>
                </a:solidFill>
                <a:latin typeface="Times New Roman MT"/>
                <a:ea typeface="Times New Roman MT"/>
                <a:cs typeface="Times New Roman MT"/>
                <a:sym typeface="Times New Roman MT"/>
              </a:rPr>
              <a:t> misinformation is no longer limited to plain text articles. Fake news now spreads through screenshots, manipulated headlines, social media posts, forwarded messages, and online news URLs across multiple platforms and languages. Existing detection systems mainly depend on standalone machine learning models, which are effective at identifying linguistic patterns but often fail to understand contextual meaning, factual inconsistency, and credibility signals.</a:t>
            </a:r>
          </a:p>
          <a:p>
            <a:pPr algn="just">
              <a:lnSpc>
                <a:spcPts val="4273"/>
              </a:lnSpc>
            </a:pPr>
          </a:p>
        </p:txBody>
      </p:sp>
      <p:sp>
        <p:nvSpPr>
          <p:cNvPr name="TextBox 9" id="9"/>
          <p:cNvSpPr txBox="true"/>
          <p:nvPr/>
        </p:nvSpPr>
        <p:spPr>
          <a:xfrm rot="0">
            <a:off x="1439029" y="6131025"/>
            <a:ext cx="15008317" cy="2215058"/>
          </a:xfrm>
          <a:prstGeom prst="rect">
            <a:avLst/>
          </a:prstGeom>
        </p:spPr>
        <p:txBody>
          <a:bodyPr anchor="t" rtlCol="false" tIns="0" lIns="0" bIns="0" rIns="0">
            <a:spAutoFit/>
          </a:bodyPr>
          <a:lstStyle/>
          <a:p>
            <a:pPr algn="just">
              <a:lnSpc>
                <a:spcPts val="4299"/>
              </a:lnSpc>
            </a:pPr>
            <a:r>
              <a:rPr lang="en-US" sz="3071">
                <a:solidFill>
                  <a:srgbClr val="01070A"/>
                </a:solidFill>
                <a:latin typeface="Times New Roman MT"/>
                <a:ea typeface="Times New Roman MT"/>
                <a:cs typeface="Times New Roman MT"/>
                <a:sym typeface="Times New Roman MT"/>
              </a:rPr>
              <a:t>To addre</a:t>
            </a:r>
            <a:r>
              <a:rPr lang="en-US" sz="3071">
                <a:solidFill>
                  <a:srgbClr val="01070A"/>
                </a:solidFill>
                <a:latin typeface="Times New Roman MT"/>
                <a:ea typeface="Times New Roman MT"/>
                <a:cs typeface="Times New Roman MT"/>
                <a:sym typeface="Times New Roman MT"/>
              </a:rPr>
              <a:t>ss these challenges, there is a need for a scalable hybrid AI-based system that combines machine learning, large language model reasoning, OCR-based text extraction, and confidence-based fusion techniques to provide accurate and explainable fake news detection for text, URLs, and images in real time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TextBox 3" id="3"/>
          <p:cNvSpPr txBox="true"/>
          <p:nvPr/>
        </p:nvSpPr>
        <p:spPr>
          <a:xfrm rot="0">
            <a:off x="0" y="720464"/>
            <a:ext cx="8242823" cy="1020320"/>
          </a:xfrm>
          <a:prstGeom prst="rect">
            <a:avLst/>
          </a:prstGeom>
        </p:spPr>
        <p:txBody>
          <a:bodyPr anchor="t" rtlCol="false" tIns="0" lIns="0" bIns="0" rIns="0">
            <a:spAutoFit/>
          </a:bodyPr>
          <a:lstStyle/>
          <a:p>
            <a:pPr algn="ctr" marL="0" indent="0" lvl="0">
              <a:lnSpc>
                <a:spcPts val="8339"/>
              </a:lnSpc>
              <a:spcBef>
                <a:spcPct val="0"/>
              </a:spcBef>
            </a:pPr>
            <a:r>
              <a:rPr lang="en-US" sz="5956">
                <a:solidFill>
                  <a:srgbClr val="01070A"/>
                </a:solidFill>
                <a:latin typeface="Carelia"/>
                <a:ea typeface="Carelia"/>
                <a:cs typeface="Carelia"/>
                <a:sym typeface="Carelia"/>
              </a:rPr>
              <a:t>Project objectives</a:t>
            </a:r>
          </a:p>
        </p:txBody>
      </p:sp>
      <p:sp>
        <p:nvSpPr>
          <p:cNvPr name="TextBox 4" id="4"/>
          <p:cNvSpPr txBox="true"/>
          <p:nvPr/>
        </p:nvSpPr>
        <p:spPr>
          <a:xfrm rot="0">
            <a:off x="0" y="2540746"/>
            <a:ext cx="17891205" cy="6717554"/>
          </a:xfrm>
          <a:prstGeom prst="rect">
            <a:avLst/>
          </a:prstGeom>
        </p:spPr>
        <p:txBody>
          <a:bodyPr anchor="t" rtlCol="false" tIns="0" lIns="0" bIns="0" rIns="0">
            <a:spAutoFit/>
          </a:bodyPr>
          <a:lstStyle/>
          <a:p>
            <a:pPr algn="just" marL="811369" indent="-405685" lvl="1">
              <a:lnSpc>
                <a:spcPts val="5261"/>
              </a:lnSpc>
              <a:buAutoNum type="arabicPeriod" startAt="1"/>
            </a:pPr>
            <a:r>
              <a:rPr lang="en-US" sz="3758">
                <a:solidFill>
                  <a:srgbClr val="01070A"/>
                </a:solidFill>
                <a:latin typeface="Times New Roman MT"/>
                <a:ea typeface="Times New Roman MT"/>
                <a:cs typeface="Times New Roman MT"/>
                <a:sym typeface="Times New Roman MT"/>
              </a:rPr>
              <a:t>D</a:t>
            </a:r>
            <a:r>
              <a:rPr lang="en-US" sz="3758">
                <a:solidFill>
                  <a:srgbClr val="01070A"/>
                </a:solidFill>
                <a:latin typeface="Times New Roman MT"/>
                <a:ea typeface="Times New Roman MT"/>
                <a:cs typeface="Times New Roman MT"/>
                <a:sym typeface="Times New Roman MT"/>
              </a:rPr>
              <a:t>evelop a machine learning model capable of detecting fake news using Natural Language Processing techniques.</a:t>
            </a:r>
          </a:p>
          <a:p>
            <a:pPr algn="just" marL="811369" indent="-405685" lvl="1">
              <a:lnSpc>
                <a:spcPts val="5261"/>
              </a:lnSpc>
              <a:buAutoNum type="arabicPeriod" startAt="1"/>
            </a:pPr>
            <a:r>
              <a:rPr lang="en-US" sz="3758">
                <a:solidFill>
                  <a:srgbClr val="01070A"/>
                </a:solidFill>
                <a:latin typeface="Times New Roman MT"/>
                <a:ea typeface="Times New Roman MT"/>
                <a:cs typeface="Times New Roman MT"/>
                <a:sym typeface="Times New Roman MT"/>
              </a:rPr>
              <a:t>To classify news content as REAL or FAKE using machine learning and AI-based techniques.</a:t>
            </a:r>
          </a:p>
          <a:p>
            <a:pPr algn="just" marL="811369" indent="-405685" lvl="1">
              <a:lnSpc>
                <a:spcPts val="5261"/>
              </a:lnSpc>
              <a:buAutoNum type="arabicPeriod" startAt="1"/>
            </a:pPr>
            <a:r>
              <a:rPr lang="en-US" sz="3758">
                <a:solidFill>
                  <a:srgbClr val="01070A"/>
                </a:solidFill>
                <a:latin typeface="Times New Roman MT"/>
                <a:ea typeface="Times New Roman MT"/>
                <a:cs typeface="Times New Roman MT"/>
                <a:sym typeface="Times New Roman MT"/>
              </a:rPr>
              <a:t>To support multimodal news analysis through text, URL, and image inputs..</a:t>
            </a:r>
          </a:p>
          <a:p>
            <a:pPr algn="just" marL="811369" indent="-405685" lvl="1">
              <a:lnSpc>
                <a:spcPts val="5261"/>
              </a:lnSpc>
              <a:buAutoNum type="arabicPeriod" startAt="1"/>
            </a:pPr>
            <a:r>
              <a:rPr lang="en-US" sz="3758">
                <a:solidFill>
                  <a:srgbClr val="01070A"/>
                </a:solidFill>
                <a:latin typeface="Times New Roman MT"/>
                <a:ea typeface="Times New Roman MT"/>
                <a:cs typeface="Times New Roman MT"/>
                <a:sym typeface="Times New Roman MT"/>
              </a:rPr>
              <a:t>To improve prediction accuracy by combining ML classification with LLM-based contextual reasoning..</a:t>
            </a:r>
          </a:p>
          <a:p>
            <a:pPr algn="just" marL="811369" indent="-405685" lvl="1">
              <a:lnSpc>
                <a:spcPts val="5261"/>
              </a:lnSpc>
              <a:buAutoNum type="arabicPeriod" startAt="1"/>
            </a:pPr>
            <a:r>
              <a:rPr lang="en-US" sz="3758">
                <a:solidFill>
                  <a:srgbClr val="01070A"/>
                </a:solidFill>
                <a:latin typeface="Times New Roman MT"/>
                <a:ea typeface="Times New Roman MT"/>
                <a:cs typeface="Times New Roman MT"/>
                <a:sym typeface="Times New Roman MT"/>
              </a:rPr>
              <a:t>To provide reliable and explainable fake news verification through a scalable web application.</a:t>
            </a:r>
          </a:p>
          <a:p>
            <a:pPr algn="just">
              <a:lnSpc>
                <a:spcPts val="5261"/>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15827528" y="9585061"/>
            <a:ext cx="3223891" cy="1403879"/>
          </a:xfrm>
          <a:custGeom>
            <a:avLst/>
            <a:gdLst/>
            <a:ahLst/>
            <a:cxnLst/>
            <a:rect r="r" b="b" t="t" l="l"/>
            <a:pathLst>
              <a:path h="1403879" w="3223891">
                <a:moveTo>
                  <a:pt x="0" y="0"/>
                </a:moveTo>
                <a:lnTo>
                  <a:pt x="3223891" y="0"/>
                </a:lnTo>
                <a:lnTo>
                  <a:pt x="3223891" y="1403878"/>
                </a:lnTo>
                <a:lnTo>
                  <a:pt x="0" y="14038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419233" y="311435"/>
            <a:ext cx="5868767" cy="9708337"/>
          </a:xfrm>
          <a:custGeom>
            <a:avLst/>
            <a:gdLst/>
            <a:ahLst/>
            <a:cxnLst/>
            <a:rect r="r" b="b" t="t" l="l"/>
            <a:pathLst>
              <a:path h="9708337" w="5868767">
                <a:moveTo>
                  <a:pt x="0" y="0"/>
                </a:moveTo>
                <a:lnTo>
                  <a:pt x="5868767" y="0"/>
                </a:lnTo>
                <a:lnTo>
                  <a:pt x="5868767" y="9708337"/>
                </a:lnTo>
                <a:lnTo>
                  <a:pt x="0" y="9708337"/>
                </a:lnTo>
                <a:lnTo>
                  <a:pt x="0" y="0"/>
                </a:lnTo>
                <a:close/>
              </a:path>
            </a:pathLst>
          </a:custGeom>
          <a:blipFill>
            <a:blip r:embed="rId5"/>
            <a:stretch>
              <a:fillRect l="-147631" t="-20622" r="-151748" b="-14577"/>
            </a:stretch>
          </a:blipFill>
        </p:spPr>
      </p:sp>
      <p:sp>
        <p:nvSpPr>
          <p:cNvPr name="TextBox 5" id="5"/>
          <p:cNvSpPr txBox="true"/>
          <p:nvPr/>
        </p:nvSpPr>
        <p:spPr>
          <a:xfrm rot="0">
            <a:off x="-794067" y="216185"/>
            <a:ext cx="12645041" cy="1650715"/>
          </a:xfrm>
          <a:prstGeom prst="rect">
            <a:avLst/>
          </a:prstGeom>
        </p:spPr>
        <p:txBody>
          <a:bodyPr anchor="t" rtlCol="false" tIns="0" lIns="0" bIns="0" rIns="0">
            <a:spAutoFit/>
          </a:bodyPr>
          <a:lstStyle/>
          <a:p>
            <a:pPr algn="ctr">
              <a:lnSpc>
                <a:spcPts val="6665"/>
              </a:lnSpc>
            </a:pPr>
            <a:r>
              <a:rPr lang="en-US" sz="4761">
                <a:solidFill>
                  <a:srgbClr val="01070A"/>
                </a:solidFill>
                <a:latin typeface="Carelia"/>
                <a:ea typeface="Carelia"/>
                <a:cs typeface="Carelia"/>
                <a:sym typeface="Carelia"/>
              </a:rPr>
              <a:t>MODEL TRAINING PIPELINE</a:t>
            </a:r>
          </a:p>
          <a:p>
            <a:pPr algn="ctr" marL="0" indent="0" lvl="0">
              <a:lnSpc>
                <a:spcPts val="6665"/>
              </a:lnSpc>
              <a:spcBef>
                <a:spcPct val="0"/>
              </a:spcBef>
            </a:pPr>
          </a:p>
        </p:txBody>
      </p:sp>
      <p:sp>
        <p:nvSpPr>
          <p:cNvPr name="TextBox 6" id="6"/>
          <p:cNvSpPr txBox="true"/>
          <p:nvPr/>
        </p:nvSpPr>
        <p:spPr>
          <a:xfrm rot="0">
            <a:off x="712494" y="1258144"/>
            <a:ext cx="12525134" cy="9514569"/>
          </a:xfrm>
          <a:prstGeom prst="rect">
            <a:avLst/>
          </a:prstGeom>
        </p:spPr>
        <p:txBody>
          <a:bodyPr anchor="t" rtlCol="false" tIns="0" lIns="0" bIns="0" rIns="0">
            <a:spAutoFit/>
          </a:bodyPr>
          <a:lstStyle/>
          <a:p>
            <a:pPr algn="l" marL="767950" indent="-383975" lvl="1">
              <a:lnSpc>
                <a:spcPts val="4979"/>
              </a:lnSpc>
              <a:buFont typeface="Arial"/>
              <a:buChar char="•"/>
            </a:pPr>
            <a:r>
              <a:rPr lang="en-US" sz="3556">
                <a:solidFill>
                  <a:srgbClr val="000000"/>
                </a:solidFill>
                <a:latin typeface="Times New Roman MT"/>
                <a:ea typeface="Times New Roman MT"/>
                <a:cs typeface="Times New Roman MT"/>
                <a:sym typeface="Times New Roman MT"/>
              </a:rPr>
              <a:t>Collected and merged multiple benchmark fake news datasets including ISOT, WELFake, FakeNewsNet, and LIAR</a:t>
            </a:r>
          </a:p>
          <a:p>
            <a:pPr algn="l" marL="767950" indent="-383975" lvl="1">
              <a:lnSpc>
                <a:spcPts val="4979"/>
              </a:lnSpc>
              <a:buFont typeface="Arial"/>
              <a:buChar char="•"/>
            </a:pPr>
            <a:r>
              <a:rPr lang="en-US" sz="3556">
                <a:solidFill>
                  <a:srgbClr val="000000"/>
                </a:solidFill>
                <a:latin typeface="Times New Roman MT"/>
                <a:ea typeface="Times New Roman MT"/>
                <a:cs typeface="Times New Roman MT"/>
                <a:sym typeface="Times New Roman MT"/>
              </a:rPr>
              <a:t>Performed data preprocessing techniques such as cleaning, deduplication, normalization, and label standardization</a:t>
            </a:r>
          </a:p>
          <a:p>
            <a:pPr algn="l" marL="767950" indent="-383975" lvl="1">
              <a:lnSpc>
                <a:spcPts val="4979"/>
              </a:lnSpc>
              <a:buFont typeface="Arial"/>
              <a:buChar char="•"/>
            </a:pPr>
            <a:r>
              <a:rPr lang="en-US" sz="3556">
                <a:solidFill>
                  <a:srgbClr val="000000"/>
                </a:solidFill>
                <a:latin typeface="Times New Roman MT"/>
                <a:ea typeface="Times New Roman MT"/>
                <a:cs typeface="Times New Roman MT"/>
                <a:sym typeface="Times New Roman MT"/>
              </a:rPr>
              <a:t>Applied tokenization and transformer-based text encoding using the DistilBERT tokenizer</a:t>
            </a:r>
          </a:p>
          <a:p>
            <a:pPr algn="l" marL="767950" indent="-383975" lvl="1">
              <a:lnSpc>
                <a:spcPts val="4979"/>
              </a:lnSpc>
              <a:buFont typeface="Arial"/>
              <a:buChar char="•"/>
            </a:pPr>
            <a:r>
              <a:rPr lang="en-US" sz="3556">
                <a:solidFill>
                  <a:srgbClr val="000000"/>
                </a:solidFill>
                <a:latin typeface="Times New Roman MT"/>
                <a:ea typeface="Times New Roman MT"/>
                <a:cs typeface="Times New Roman MT"/>
                <a:sym typeface="Times New Roman MT"/>
              </a:rPr>
              <a:t>Spl</a:t>
            </a:r>
            <a:r>
              <a:rPr lang="en-US" sz="3556">
                <a:solidFill>
                  <a:srgbClr val="000000"/>
                </a:solidFill>
                <a:latin typeface="Times New Roman MT"/>
                <a:ea typeface="Times New Roman MT"/>
                <a:cs typeface="Times New Roman MT"/>
                <a:sym typeface="Times New Roman MT"/>
              </a:rPr>
              <a:t>it the processed dataset into training, validation, and testing sets using stratified sampling</a:t>
            </a:r>
          </a:p>
          <a:p>
            <a:pPr algn="l" marL="767950" indent="-383975" lvl="1">
              <a:lnSpc>
                <a:spcPts val="4979"/>
              </a:lnSpc>
              <a:buFont typeface="Arial"/>
              <a:buChar char="•"/>
            </a:pPr>
            <a:r>
              <a:rPr lang="en-US" sz="3556">
                <a:solidFill>
                  <a:srgbClr val="000000"/>
                </a:solidFill>
                <a:latin typeface="Times New Roman MT"/>
                <a:ea typeface="Times New Roman MT"/>
                <a:cs typeface="Times New Roman MT"/>
                <a:sym typeface="Times New Roman MT"/>
              </a:rPr>
              <a:t>Fine-tuned the multilingual DistilBERT model for binary fake news classification</a:t>
            </a:r>
          </a:p>
          <a:p>
            <a:pPr algn="l" marL="767950" indent="-383975" lvl="1">
              <a:lnSpc>
                <a:spcPts val="4979"/>
              </a:lnSpc>
              <a:buFont typeface="Arial"/>
              <a:buChar char="•"/>
            </a:pPr>
            <a:r>
              <a:rPr lang="en-US" sz="3556">
                <a:solidFill>
                  <a:srgbClr val="000000"/>
                </a:solidFill>
                <a:latin typeface="Times New Roman MT"/>
                <a:ea typeface="Times New Roman MT"/>
                <a:cs typeface="Times New Roman MT"/>
                <a:sym typeface="Times New Roman MT"/>
              </a:rPr>
              <a:t>Evaluated model performance using Accuracy, Precision, Recall, F1-Score, and Loss metrics</a:t>
            </a:r>
          </a:p>
          <a:p>
            <a:pPr algn="l" marL="767950" indent="-383975" lvl="1">
              <a:lnSpc>
                <a:spcPts val="4979"/>
              </a:lnSpc>
              <a:buFont typeface="Arial"/>
              <a:buChar char="•"/>
            </a:pPr>
            <a:r>
              <a:rPr lang="en-US" sz="3556">
                <a:solidFill>
                  <a:srgbClr val="000000"/>
                </a:solidFill>
                <a:latin typeface="Times New Roman MT"/>
                <a:ea typeface="Times New Roman MT"/>
                <a:cs typeface="Times New Roman MT"/>
                <a:sym typeface="Times New Roman MT"/>
              </a:rPr>
              <a:t>Generated optimized model checkpoints for real-time inference and prediction analysis</a:t>
            </a:r>
          </a:p>
          <a:p>
            <a:pPr algn="l">
              <a:lnSpc>
                <a:spcPts val="497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15827528" y="9585061"/>
            <a:ext cx="3223891" cy="1403879"/>
          </a:xfrm>
          <a:custGeom>
            <a:avLst/>
            <a:gdLst/>
            <a:ahLst/>
            <a:cxnLst/>
            <a:rect r="r" b="b" t="t" l="l"/>
            <a:pathLst>
              <a:path h="1403879" w="3223891">
                <a:moveTo>
                  <a:pt x="0" y="0"/>
                </a:moveTo>
                <a:lnTo>
                  <a:pt x="3223891" y="0"/>
                </a:lnTo>
                <a:lnTo>
                  <a:pt x="3223891" y="1403878"/>
                </a:lnTo>
                <a:lnTo>
                  <a:pt x="0" y="14038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768443" y="443055"/>
            <a:ext cx="8564930" cy="1650715"/>
          </a:xfrm>
          <a:prstGeom prst="rect">
            <a:avLst/>
          </a:prstGeom>
        </p:spPr>
        <p:txBody>
          <a:bodyPr anchor="t" rtlCol="false" tIns="0" lIns="0" bIns="0" rIns="0">
            <a:spAutoFit/>
          </a:bodyPr>
          <a:lstStyle/>
          <a:p>
            <a:pPr algn="ctr">
              <a:lnSpc>
                <a:spcPts val="6665"/>
              </a:lnSpc>
            </a:pPr>
            <a:r>
              <a:rPr lang="en-US" sz="4761">
                <a:solidFill>
                  <a:srgbClr val="01070A"/>
                </a:solidFill>
                <a:latin typeface="Carelia"/>
                <a:ea typeface="Carelia"/>
                <a:cs typeface="Carelia"/>
                <a:sym typeface="Carelia"/>
              </a:rPr>
              <a:t>MACHINE LEARNING MODEL</a:t>
            </a:r>
          </a:p>
          <a:p>
            <a:pPr algn="ctr" marL="0" indent="0" lvl="0">
              <a:lnSpc>
                <a:spcPts val="6665"/>
              </a:lnSpc>
              <a:spcBef>
                <a:spcPct val="0"/>
              </a:spcBef>
            </a:pPr>
          </a:p>
        </p:txBody>
      </p:sp>
      <p:sp>
        <p:nvSpPr>
          <p:cNvPr name="TextBox 5" id="5"/>
          <p:cNvSpPr txBox="true"/>
          <p:nvPr/>
        </p:nvSpPr>
        <p:spPr>
          <a:xfrm rot="0">
            <a:off x="520214" y="1434170"/>
            <a:ext cx="16090731" cy="8668098"/>
          </a:xfrm>
          <a:prstGeom prst="rect">
            <a:avLst/>
          </a:prstGeom>
        </p:spPr>
        <p:txBody>
          <a:bodyPr anchor="t" rtlCol="false" tIns="0" lIns="0" bIns="0" rIns="0">
            <a:spAutoFit/>
          </a:bodyPr>
          <a:lstStyle/>
          <a:p>
            <a:pPr algn="l" marL="805538" indent="-402769" lvl="1">
              <a:lnSpc>
                <a:spcPts val="5223"/>
              </a:lnSpc>
              <a:buFont typeface="Arial"/>
              <a:buChar char="•"/>
            </a:pPr>
            <a:r>
              <a:rPr lang="en-US" sz="3731">
                <a:solidFill>
                  <a:srgbClr val="000000"/>
                </a:solidFill>
                <a:latin typeface="Times New Roman MT"/>
                <a:ea typeface="Times New Roman MT"/>
                <a:cs typeface="Times New Roman MT"/>
                <a:sym typeface="Times New Roman MT"/>
              </a:rPr>
              <a:t>Input news content is first tokenized using the DistilBERT tokenizer to convert text into transformer-readable embeddings</a:t>
            </a:r>
          </a:p>
          <a:p>
            <a:pPr algn="l" marL="805538" indent="-402769" lvl="1">
              <a:lnSpc>
                <a:spcPts val="5223"/>
              </a:lnSpc>
              <a:buFont typeface="Arial"/>
              <a:buChar char="•"/>
            </a:pPr>
            <a:r>
              <a:rPr lang="en-US" sz="3731">
                <a:solidFill>
                  <a:srgbClr val="000000"/>
                </a:solidFill>
                <a:latin typeface="Times New Roman MT"/>
                <a:ea typeface="Times New Roman MT"/>
                <a:cs typeface="Times New Roman MT"/>
                <a:sym typeface="Times New Roman MT"/>
              </a:rPr>
              <a:t>The transformer model analyzes semantic meaning, sentence relationships, writing patterns, and contextual misinformation indicators</a:t>
            </a:r>
          </a:p>
          <a:p>
            <a:pPr algn="l" marL="805538" indent="-402769" lvl="1">
              <a:lnSpc>
                <a:spcPts val="5223"/>
              </a:lnSpc>
              <a:buFont typeface="Arial"/>
              <a:buChar char="•"/>
            </a:pPr>
            <a:r>
              <a:rPr lang="en-US" sz="3731">
                <a:solidFill>
                  <a:srgbClr val="000000"/>
                </a:solidFill>
                <a:latin typeface="Times New Roman MT"/>
                <a:ea typeface="Times New Roman MT"/>
                <a:cs typeface="Times New Roman MT"/>
                <a:sym typeface="Times New Roman MT"/>
              </a:rPr>
              <a:t>Attention mechanisms inside DistilBERT identify important words and misleading linguistic patterns across the news content</a:t>
            </a:r>
          </a:p>
          <a:p>
            <a:pPr algn="l" marL="805538" indent="-402769" lvl="1">
              <a:lnSpc>
                <a:spcPts val="5223"/>
              </a:lnSpc>
              <a:buFont typeface="Arial"/>
              <a:buChar char="•"/>
            </a:pPr>
            <a:r>
              <a:rPr lang="en-US" sz="3731">
                <a:solidFill>
                  <a:srgbClr val="000000"/>
                </a:solidFill>
                <a:latin typeface="Times New Roman MT"/>
                <a:ea typeface="Times New Roman MT"/>
                <a:cs typeface="Times New Roman MT"/>
                <a:sym typeface="Times New Roman MT"/>
              </a:rPr>
              <a:t>The fine-tuned classification layer predicts whether the content belongs to the REAL or FAKE category</a:t>
            </a:r>
          </a:p>
          <a:p>
            <a:pPr algn="l" marL="805538" indent="-402769" lvl="1">
              <a:lnSpc>
                <a:spcPts val="5223"/>
              </a:lnSpc>
              <a:buFont typeface="Arial"/>
              <a:buChar char="•"/>
            </a:pPr>
            <a:r>
              <a:rPr lang="en-US" sz="3731">
                <a:solidFill>
                  <a:srgbClr val="000000"/>
                </a:solidFill>
                <a:latin typeface="Times New Roman MT"/>
                <a:ea typeface="Times New Roman MT"/>
                <a:cs typeface="Times New Roman MT"/>
                <a:sym typeface="Times New Roman MT"/>
              </a:rPr>
              <a:t>The model generates confidence probabilities which are forwarded to the fusion engine for weighted decision analysis</a:t>
            </a:r>
          </a:p>
          <a:p>
            <a:pPr algn="l" marL="805538" indent="-402769" lvl="1">
              <a:lnSpc>
                <a:spcPts val="5223"/>
              </a:lnSpc>
              <a:buFont typeface="Arial"/>
              <a:buChar char="•"/>
            </a:pPr>
            <a:r>
              <a:rPr lang="en-US" sz="3731">
                <a:solidFill>
                  <a:srgbClr val="000000"/>
                </a:solidFill>
                <a:latin typeface="Times New Roman MT"/>
                <a:ea typeface="Times New Roman MT"/>
                <a:cs typeface="Times New Roman MT"/>
                <a:sym typeface="Times New Roman MT"/>
              </a:rPr>
              <a:t>Final predictions are combined with LLM reasoning and credibility verification to improve overall detection reliability</a:t>
            </a:r>
          </a:p>
          <a:p>
            <a:pPr algn="l">
              <a:lnSpc>
                <a:spcPts val="5223"/>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7012682" y="1453260"/>
            <a:ext cx="11504751" cy="8296183"/>
          </a:xfrm>
          <a:custGeom>
            <a:avLst/>
            <a:gdLst/>
            <a:ahLst/>
            <a:cxnLst/>
            <a:rect r="r" b="b" t="t" l="l"/>
            <a:pathLst>
              <a:path h="8296183" w="11504751">
                <a:moveTo>
                  <a:pt x="0" y="0"/>
                </a:moveTo>
                <a:lnTo>
                  <a:pt x="11504750" y="0"/>
                </a:lnTo>
                <a:lnTo>
                  <a:pt x="11504750" y="8296183"/>
                </a:lnTo>
                <a:lnTo>
                  <a:pt x="0" y="8296183"/>
                </a:lnTo>
                <a:lnTo>
                  <a:pt x="0" y="0"/>
                </a:lnTo>
                <a:close/>
              </a:path>
            </a:pathLst>
          </a:custGeom>
          <a:blipFill>
            <a:blip r:embed="rId3"/>
            <a:stretch>
              <a:fillRect l="-22088" t="0" r="-22088" b="-11965"/>
            </a:stretch>
          </a:blipFill>
        </p:spPr>
      </p:sp>
      <p:sp>
        <p:nvSpPr>
          <p:cNvPr name="TextBox 4" id="4"/>
          <p:cNvSpPr txBox="true"/>
          <p:nvPr/>
        </p:nvSpPr>
        <p:spPr>
          <a:xfrm rot="0">
            <a:off x="159453" y="175670"/>
            <a:ext cx="10133580" cy="2077648"/>
          </a:xfrm>
          <a:prstGeom prst="rect">
            <a:avLst/>
          </a:prstGeom>
        </p:spPr>
        <p:txBody>
          <a:bodyPr anchor="t" rtlCol="false" tIns="0" lIns="0" bIns="0" rIns="0">
            <a:spAutoFit/>
          </a:bodyPr>
          <a:lstStyle/>
          <a:p>
            <a:pPr algn="ctr">
              <a:lnSpc>
                <a:spcPts val="8339"/>
              </a:lnSpc>
            </a:pPr>
            <a:r>
              <a:rPr lang="en-US" sz="5956">
                <a:solidFill>
                  <a:srgbClr val="01070A"/>
                </a:solidFill>
                <a:latin typeface="Carelia"/>
                <a:ea typeface="Carelia"/>
                <a:cs typeface="Carelia"/>
                <a:sym typeface="Carelia"/>
              </a:rPr>
              <a:t> MULTIMODAL PIPELINE</a:t>
            </a:r>
          </a:p>
          <a:p>
            <a:pPr algn="ctr" marL="0" indent="0" lvl="0">
              <a:lnSpc>
                <a:spcPts val="8339"/>
              </a:lnSpc>
              <a:spcBef>
                <a:spcPct val="0"/>
              </a:spcBef>
            </a:pPr>
          </a:p>
        </p:txBody>
      </p:sp>
      <p:sp>
        <p:nvSpPr>
          <p:cNvPr name="TextBox 5" id="5"/>
          <p:cNvSpPr txBox="true"/>
          <p:nvPr/>
        </p:nvSpPr>
        <p:spPr>
          <a:xfrm rot="0">
            <a:off x="1028700" y="1300860"/>
            <a:ext cx="8331856" cy="9326896"/>
          </a:xfrm>
          <a:prstGeom prst="rect">
            <a:avLst/>
          </a:prstGeom>
        </p:spPr>
        <p:txBody>
          <a:bodyPr anchor="t" rtlCol="false" tIns="0" lIns="0" bIns="0" rIns="0">
            <a:spAutoFit/>
          </a:bodyPr>
          <a:lstStyle/>
          <a:p>
            <a:pPr algn="just" marL="810255" indent="-405128" lvl="1">
              <a:lnSpc>
                <a:spcPts val="5254"/>
              </a:lnSpc>
              <a:buFont typeface="Arial"/>
              <a:buChar char="•"/>
            </a:pPr>
            <a:r>
              <a:rPr lang="en-US" sz="3752">
                <a:solidFill>
                  <a:srgbClr val="01070A"/>
                </a:solidFill>
                <a:latin typeface="Times New Roman MT"/>
                <a:ea typeface="Times New Roman MT"/>
                <a:cs typeface="Times New Roman MT"/>
                <a:sym typeface="Times New Roman MT"/>
              </a:rPr>
              <a:t>Supp</a:t>
            </a:r>
            <a:r>
              <a:rPr lang="en-US" sz="3752">
                <a:solidFill>
                  <a:srgbClr val="01070A"/>
                </a:solidFill>
                <a:latin typeface="Times New Roman MT"/>
                <a:ea typeface="Times New Roman MT"/>
                <a:cs typeface="Times New Roman MT"/>
                <a:sym typeface="Times New Roman MT"/>
              </a:rPr>
              <a:t>orts T</a:t>
            </a:r>
            <a:r>
              <a:rPr lang="en-US" sz="3752">
                <a:solidFill>
                  <a:srgbClr val="01070A"/>
                </a:solidFill>
                <a:latin typeface="Times New Roman MT"/>
                <a:ea typeface="Times New Roman MT"/>
                <a:cs typeface="Times New Roman MT"/>
                <a:sym typeface="Times New Roman MT"/>
              </a:rPr>
              <a:t>ext, URL, and</a:t>
            </a:r>
            <a:r>
              <a:rPr lang="en-US" sz="3752">
                <a:solidFill>
                  <a:srgbClr val="01070A"/>
                </a:solidFill>
                <a:latin typeface="Times New Roman MT"/>
                <a:ea typeface="Times New Roman MT"/>
                <a:cs typeface="Times New Roman MT"/>
                <a:sym typeface="Times New Roman MT"/>
              </a:rPr>
              <a:t> Image-based news verification</a:t>
            </a:r>
          </a:p>
          <a:p>
            <a:pPr algn="just" marL="810255" indent="-405128" lvl="1">
              <a:lnSpc>
                <a:spcPts val="5254"/>
              </a:lnSpc>
              <a:buFont typeface="Arial"/>
              <a:buChar char="•"/>
            </a:pPr>
            <a:r>
              <a:rPr lang="en-US" sz="3752">
                <a:solidFill>
                  <a:srgbClr val="01070A"/>
                </a:solidFill>
                <a:latin typeface="Times New Roman MT"/>
                <a:ea typeface="Times New Roman MT"/>
                <a:cs typeface="Times New Roman MT"/>
                <a:sym typeface="Times New Roman MT"/>
              </a:rPr>
              <a:t>Text input is</a:t>
            </a:r>
            <a:r>
              <a:rPr lang="en-US" sz="3752">
                <a:solidFill>
                  <a:srgbClr val="01070A"/>
                </a:solidFill>
                <a:latin typeface="Times New Roman MT"/>
                <a:ea typeface="Times New Roman MT"/>
                <a:cs typeface="Times New Roman MT"/>
                <a:sym typeface="Times New Roman MT"/>
              </a:rPr>
              <a:t> p</a:t>
            </a:r>
            <a:r>
              <a:rPr lang="en-US" sz="3752">
                <a:solidFill>
                  <a:srgbClr val="01070A"/>
                </a:solidFill>
                <a:latin typeface="Times New Roman MT"/>
                <a:ea typeface="Times New Roman MT"/>
                <a:cs typeface="Times New Roman MT"/>
                <a:sym typeface="Times New Roman MT"/>
              </a:rPr>
              <a:t>rocessed through </a:t>
            </a:r>
            <a:r>
              <a:rPr lang="en-US" sz="3752">
                <a:solidFill>
                  <a:srgbClr val="01070A"/>
                </a:solidFill>
                <a:latin typeface="Times New Roman MT"/>
                <a:ea typeface="Times New Roman MT"/>
                <a:cs typeface="Times New Roman MT"/>
                <a:sym typeface="Times New Roman MT"/>
              </a:rPr>
              <a:t>p</a:t>
            </a:r>
            <a:r>
              <a:rPr lang="en-US" sz="3752">
                <a:solidFill>
                  <a:srgbClr val="01070A"/>
                </a:solidFill>
                <a:latin typeface="Times New Roman MT"/>
                <a:ea typeface="Times New Roman MT"/>
                <a:cs typeface="Times New Roman MT"/>
                <a:sym typeface="Times New Roman MT"/>
              </a:rPr>
              <a:t>rep</a:t>
            </a:r>
            <a:r>
              <a:rPr lang="en-US" sz="3752">
                <a:solidFill>
                  <a:srgbClr val="01070A"/>
                </a:solidFill>
                <a:latin typeface="Times New Roman MT"/>
                <a:ea typeface="Times New Roman MT"/>
                <a:cs typeface="Times New Roman MT"/>
                <a:sym typeface="Times New Roman MT"/>
              </a:rPr>
              <a:t>r</a:t>
            </a:r>
            <a:r>
              <a:rPr lang="en-US" sz="3752">
                <a:solidFill>
                  <a:srgbClr val="01070A"/>
                </a:solidFill>
                <a:latin typeface="Times New Roman MT"/>
                <a:ea typeface="Times New Roman MT"/>
                <a:cs typeface="Times New Roman MT"/>
                <a:sym typeface="Times New Roman MT"/>
              </a:rPr>
              <a:t>o</a:t>
            </a:r>
            <a:r>
              <a:rPr lang="en-US" sz="3752">
                <a:solidFill>
                  <a:srgbClr val="01070A"/>
                </a:solidFill>
                <a:latin typeface="Times New Roman MT"/>
                <a:ea typeface="Times New Roman MT"/>
                <a:cs typeface="Times New Roman MT"/>
                <a:sym typeface="Times New Roman MT"/>
              </a:rPr>
              <a:t>ces</a:t>
            </a:r>
            <a:r>
              <a:rPr lang="en-US" sz="3752">
                <a:solidFill>
                  <a:srgbClr val="01070A"/>
                </a:solidFill>
                <a:latin typeface="Times New Roman MT"/>
                <a:ea typeface="Times New Roman MT"/>
                <a:cs typeface="Times New Roman MT"/>
                <a:sym typeface="Times New Roman MT"/>
              </a:rPr>
              <a:t>si</a:t>
            </a:r>
            <a:r>
              <a:rPr lang="en-US" sz="3752">
                <a:solidFill>
                  <a:srgbClr val="01070A"/>
                </a:solidFill>
                <a:latin typeface="Times New Roman MT"/>
                <a:ea typeface="Times New Roman MT"/>
                <a:cs typeface="Times New Roman MT"/>
                <a:sym typeface="Times New Roman MT"/>
              </a:rPr>
              <a:t>ng and classificati</a:t>
            </a:r>
            <a:r>
              <a:rPr lang="en-US" sz="3752">
                <a:solidFill>
                  <a:srgbClr val="01070A"/>
                </a:solidFill>
                <a:latin typeface="Times New Roman MT"/>
                <a:ea typeface="Times New Roman MT"/>
                <a:cs typeface="Times New Roman MT"/>
                <a:sym typeface="Times New Roman MT"/>
              </a:rPr>
              <a:t>on layers</a:t>
            </a:r>
          </a:p>
          <a:p>
            <a:pPr algn="just" marL="810255" indent="-405128" lvl="1">
              <a:lnSpc>
                <a:spcPts val="5254"/>
              </a:lnSpc>
              <a:buFont typeface="Arial"/>
              <a:buChar char="•"/>
            </a:pPr>
            <a:r>
              <a:rPr lang="en-US" sz="3752">
                <a:solidFill>
                  <a:srgbClr val="01070A"/>
                </a:solidFill>
                <a:latin typeface="Times New Roman MT"/>
                <a:ea typeface="Times New Roman MT"/>
                <a:cs typeface="Times New Roman MT"/>
                <a:sym typeface="Times New Roman MT"/>
              </a:rPr>
              <a:t>URLs are scraped to extract article content for analysis</a:t>
            </a:r>
          </a:p>
          <a:p>
            <a:pPr algn="just" marL="810255" indent="-405128" lvl="1">
              <a:lnSpc>
                <a:spcPts val="5254"/>
              </a:lnSpc>
              <a:buFont typeface="Arial"/>
              <a:buChar char="•"/>
            </a:pPr>
            <a:r>
              <a:rPr lang="en-US" sz="3752">
                <a:solidFill>
                  <a:srgbClr val="01070A"/>
                </a:solidFill>
                <a:latin typeface="Times New Roman MT"/>
                <a:ea typeface="Times New Roman MT"/>
                <a:cs typeface="Times New Roman MT"/>
                <a:sym typeface="Times New Roman MT"/>
              </a:rPr>
              <a:t>Images are processed us</a:t>
            </a:r>
            <a:r>
              <a:rPr lang="en-US" sz="3752">
                <a:solidFill>
                  <a:srgbClr val="01070A"/>
                </a:solidFill>
                <a:latin typeface="Times New Roman MT"/>
                <a:ea typeface="Times New Roman MT"/>
                <a:cs typeface="Times New Roman MT"/>
                <a:sym typeface="Times New Roman MT"/>
              </a:rPr>
              <a:t>in</a:t>
            </a:r>
            <a:r>
              <a:rPr lang="en-US" sz="3752">
                <a:solidFill>
                  <a:srgbClr val="01070A"/>
                </a:solidFill>
                <a:latin typeface="Times New Roman MT"/>
                <a:ea typeface="Times New Roman MT"/>
                <a:cs typeface="Times New Roman MT"/>
                <a:sym typeface="Times New Roman MT"/>
              </a:rPr>
              <a:t>g</a:t>
            </a:r>
            <a:r>
              <a:rPr lang="en-US" sz="3752">
                <a:solidFill>
                  <a:srgbClr val="01070A"/>
                </a:solidFill>
                <a:latin typeface="Times New Roman MT"/>
                <a:ea typeface="Times New Roman MT"/>
                <a:cs typeface="Times New Roman MT"/>
                <a:sym typeface="Times New Roman MT"/>
              </a:rPr>
              <a:t> OCR</a:t>
            </a:r>
            <a:r>
              <a:rPr lang="en-US" sz="3752">
                <a:solidFill>
                  <a:srgbClr val="01070A"/>
                </a:solidFill>
                <a:latin typeface="Times New Roman MT"/>
                <a:ea typeface="Times New Roman MT"/>
                <a:cs typeface="Times New Roman MT"/>
                <a:sym typeface="Times New Roman MT"/>
              </a:rPr>
              <a:t> for text extraction</a:t>
            </a:r>
          </a:p>
          <a:p>
            <a:pPr algn="just" marL="810255" indent="-405128" lvl="1">
              <a:lnSpc>
                <a:spcPts val="5254"/>
              </a:lnSpc>
              <a:buFont typeface="Arial"/>
              <a:buChar char="•"/>
            </a:pPr>
            <a:r>
              <a:rPr lang="en-US" sz="3752">
                <a:solidFill>
                  <a:srgbClr val="01070A"/>
                </a:solidFill>
                <a:latin typeface="Times New Roman MT"/>
                <a:ea typeface="Times New Roman MT"/>
                <a:cs typeface="Times New Roman MT"/>
                <a:sym typeface="Times New Roman MT"/>
              </a:rPr>
              <a:t>All input paths are analyzed using ML and LLM</a:t>
            </a:r>
            <a:r>
              <a:rPr lang="en-US" sz="3752">
                <a:solidFill>
                  <a:srgbClr val="01070A"/>
                </a:solidFill>
                <a:latin typeface="Times New Roman MT"/>
                <a:ea typeface="Times New Roman MT"/>
                <a:cs typeface="Times New Roman MT"/>
                <a:sym typeface="Times New Roman MT"/>
              </a:rPr>
              <a:t> </a:t>
            </a:r>
            <a:r>
              <a:rPr lang="en-US" sz="3752">
                <a:solidFill>
                  <a:srgbClr val="01070A"/>
                </a:solidFill>
                <a:latin typeface="Times New Roman MT"/>
                <a:ea typeface="Times New Roman MT"/>
                <a:cs typeface="Times New Roman MT"/>
                <a:sym typeface="Times New Roman MT"/>
              </a:rPr>
              <a:t>lay</a:t>
            </a:r>
            <a:r>
              <a:rPr lang="en-US" sz="3752">
                <a:solidFill>
                  <a:srgbClr val="01070A"/>
                </a:solidFill>
                <a:latin typeface="Times New Roman MT"/>
                <a:ea typeface="Times New Roman MT"/>
                <a:cs typeface="Times New Roman MT"/>
                <a:sym typeface="Times New Roman MT"/>
              </a:rPr>
              <a:t>er</a:t>
            </a:r>
            <a:r>
              <a:rPr lang="en-US" sz="3752">
                <a:solidFill>
                  <a:srgbClr val="01070A"/>
                </a:solidFill>
                <a:latin typeface="Times New Roman MT"/>
                <a:ea typeface="Times New Roman MT"/>
                <a:cs typeface="Times New Roman MT"/>
                <a:sym typeface="Times New Roman MT"/>
              </a:rPr>
              <a:t>s</a:t>
            </a:r>
          </a:p>
          <a:p>
            <a:pPr algn="just" marL="810255" indent="-405128" lvl="1">
              <a:lnSpc>
                <a:spcPts val="5254"/>
              </a:lnSpc>
              <a:buFont typeface="Arial"/>
              <a:buChar char="•"/>
            </a:pPr>
            <a:r>
              <a:rPr lang="en-US" sz="3752">
                <a:solidFill>
                  <a:srgbClr val="01070A"/>
                </a:solidFill>
                <a:latin typeface="Times New Roman MT"/>
                <a:ea typeface="Times New Roman MT"/>
                <a:cs typeface="Times New Roman MT"/>
                <a:sym typeface="Times New Roman MT"/>
              </a:rPr>
              <a:t>Fusion engine c</a:t>
            </a:r>
            <a:r>
              <a:rPr lang="en-US" sz="3752">
                <a:solidFill>
                  <a:srgbClr val="01070A"/>
                </a:solidFill>
                <a:latin typeface="Times New Roman MT"/>
                <a:ea typeface="Times New Roman MT"/>
                <a:cs typeface="Times New Roman MT"/>
                <a:sym typeface="Times New Roman MT"/>
              </a:rPr>
              <a:t>omb</a:t>
            </a:r>
            <a:r>
              <a:rPr lang="en-US" sz="3752">
                <a:solidFill>
                  <a:srgbClr val="01070A"/>
                </a:solidFill>
                <a:latin typeface="Times New Roman MT"/>
                <a:ea typeface="Times New Roman MT"/>
                <a:cs typeface="Times New Roman MT"/>
                <a:sym typeface="Times New Roman MT"/>
              </a:rPr>
              <a:t>in</a:t>
            </a:r>
            <a:r>
              <a:rPr lang="en-US" sz="3752">
                <a:solidFill>
                  <a:srgbClr val="01070A"/>
                </a:solidFill>
                <a:latin typeface="Times New Roman MT"/>
                <a:ea typeface="Times New Roman MT"/>
                <a:cs typeface="Times New Roman MT"/>
                <a:sym typeface="Times New Roman MT"/>
              </a:rPr>
              <a:t>e</a:t>
            </a:r>
            <a:r>
              <a:rPr lang="en-US" sz="3752">
                <a:solidFill>
                  <a:srgbClr val="01070A"/>
                </a:solidFill>
                <a:latin typeface="Times New Roman MT"/>
                <a:ea typeface="Times New Roman MT"/>
                <a:cs typeface="Times New Roman MT"/>
                <a:sym typeface="Times New Roman MT"/>
              </a:rPr>
              <a:t>s</a:t>
            </a:r>
            <a:r>
              <a:rPr lang="en-US" sz="3752">
                <a:solidFill>
                  <a:srgbClr val="01070A"/>
                </a:solidFill>
                <a:latin typeface="Times New Roman MT"/>
                <a:ea typeface="Times New Roman MT"/>
                <a:cs typeface="Times New Roman MT"/>
                <a:sym typeface="Times New Roman MT"/>
              </a:rPr>
              <a:t> </a:t>
            </a:r>
            <a:r>
              <a:rPr lang="en-US" sz="3752">
                <a:solidFill>
                  <a:srgbClr val="01070A"/>
                </a:solidFill>
                <a:latin typeface="Times New Roman MT"/>
                <a:ea typeface="Times New Roman MT"/>
                <a:cs typeface="Times New Roman MT"/>
                <a:sym typeface="Times New Roman MT"/>
              </a:rPr>
              <a:t>predi</a:t>
            </a:r>
            <a:r>
              <a:rPr lang="en-US" sz="3752">
                <a:solidFill>
                  <a:srgbClr val="01070A"/>
                </a:solidFill>
                <a:latin typeface="Times New Roman MT"/>
                <a:ea typeface="Times New Roman MT"/>
                <a:cs typeface="Times New Roman MT"/>
                <a:sym typeface="Times New Roman MT"/>
              </a:rPr>
              <a:t>ctions to genera</a:t>
            </a:r>
            <a:r>
              <a:rPr lang="en-US" sz="3752">
                <a:solidFill>
                  <a:srgbClr val="01070A"/>
                </a:solidFill>
                <a:latin typeface="Times New Roman MT"/>
                <a:ea typeface="Times New Roman MT"/>
                <a:cs typeface="Times New Roman MT"/>
                <a:sym typeface="Times New Roman MT"/>
              </a:rPr>
              <a:t>t</a:t>
            </a:r>
            <a:r>
              <a:rPr lang="en-US" sz="3752">
                <a:solidFill>
                  <a:srgbClr val="01070A"/>
                </a:solidFill>
                <a:latin typeface="Times New Roman MT"/>
                <a:ea typeface="Times New Roman MT"/>
                <a:cs typeface="Times New Roman MT"/>
                <a:sym typeface="Times New Roman MT"/>
              </a:rPr>
              <a:t>e final verdict</a:t>
            </a:r>
          </a:p>
          <a:p>
            <a:pPr algn="just">
              <a:lnSpc>
                <a:spcPts val="5254"/>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11479562" y="1195990"/>
            <a:ext cx="7052550" cy="8815687"/>
          </a:xfrm>
          <a:custGeom>
            <a:avLst/>
            <a:gdLst/>
            <a:ahLst/>
            <a:cxnLst/>
            <a:rect r="r" b="b" t="t" l="l"/>
            <a:pathLst>
              <a:path h="8815687" w="7052550">
                <a:moveTo>
                  <a:pt x="0" y="0"/>
                </a:moveTo>
                <a:lnTo>
                  <a:pt x="7052550" y="0"/>
                </a:lnTo>
                <a:lnTo>
                  <a:pt x="7052550" y="8815687"/>
                </a:lnTo>
                <a:lnTo>
                  <a:pt x="0" y="8815687"/>
                </a:lnTo>
                <a:lnTo>
                  <a:pt x="0" y="0"/>
                </a:lnTo>
                <a:close/>
              </a:path>
            </a:pathLst>
          </a:custGeom>
          <a:blipFill>
            <a:blip r:embed="rId3"/>
            <a:stretch>
              <a:fillRect l="0" t="0" r="0" b="0"/>
            </a:stretch>
          </a:blipFill>
        </p:spPr>
      </p:sp>
      <p:sp>
        <p:nvSpPr>
          <p:cNvPr name="TextBox 4" id="4"/>
          <p:cNvSpPr txBox="true"/>
          <p:nvPr/>
        </p:nvSpPr>
        <p:spPr>
          <a:xfrm rot="0">
            <a:off x="159453" y="175670"/>
            <a:ext cx="12605604" cy="1020320"/>
          </a:xfrm>
          <a:prstGeom prst="rect">
            <a:avLst/>
          </a:prstGeom>
        </p:spPr>
        <p:txBody>
          <a:bodyPr anchor="t" rtlCol="false" tIns="0" lIns="0" bIns="0" rIns="0">
            <a:spAutoFit/>
          </a:bodyPr>
          <a:lstStyle/>
          <a:p>
            <a:pPr algn="ctr" marL="0" indent="0" lvl="0">
              <a:lnSpc>
                <a:spcPts val="8339"/>
              </a:lnSpc>
              <a:spcBef>
                <a:spcPct val="0"/>
              </a:spcBef>
            </a:pPr>
            <a:r>
              <a:rPr lang="en-US" sz="5956">
                <a:solidFill>
                  <a:srgbClr val="01070A"/>
                </a:solidFill>
                <a:latin typeface="Carelia"/>
                <a:ea typeface="Carelia"/>
                <a:cs typeface="Carelia"/>
                <a:sym typeface="Carelia"/>
              </a:rPr>
              <a:t>LLM Verification Layer Working</a:t>
            </a:r>
          </a:p>
        </p:txBody>
      </p:sp>
      <p:sp>
        <p:nvSpPr>
          <p:cNvPr name="TextBox 5" id="5"/>
          <p:cNvSpPr txBox="true"/>
          <p:nvPr/>
        </p:nvSpPr>
        <p:spPr>
          <a:xfrm rot="0">
            <a:off x="-195896" y="590580"/>
            <a:ext cx="11675458" cy="9989027"/>
          </a:xfrm>
          <a:prstGeom prst="rect">
            <a:avLst/>
          </a:prstGeom>
        </p:spPr>
        <p:txBody>
          <a:bodyPr anchor="t" rtlCol="false" tIns="0" lIns="0" bIns="0" rIns="0">
            <a:spAutoFit/>
          </a:bodyPr>
          <a:lstStyle/>
          <a:p>
            <a:pPr algn="just">
              <a:lnSpc>
                <a:spcPts val="5254"/>
              </a:lnSpc>
            </a:pPr>
          </a:p>
          <a:p>
            <a:pPr algn="just" marL="810255" indent="-405128" lvl="1">
              <a:lnSpc>
                <a:spcPts val="5254"/>
              </a:lnSpc>
              <a:buFont typeface="Arial"/>
              <a:buChar char="•"/>
            </a:pPr>
            <a:r>
              <a:rPr lang="en-US" sz="3752">
                <a:solidFill>
                  <a:srgbClr val="01070A"/>
                </a:solidFill>
                <a:latin typeface="Times New Roman MT"/>
                <a:ea typeface="Times New Roman MT"/>
                <a:cs typeface="Times New Roman MT"/>
                <a:sym typeface="Times New Roman MT"/>
              </a:rPr>
              <a:t>The news content is</a:t>
            </a:r>
            <a:r>
              <a:rPr lang="en-US" sz="3752">
                <a:solidFill>
                  <a:srgbClr val="01070A"/>
                </a:solidFill>
                <a:latin typeface="Times New Roman MT"/>
                <a:ea typeface="Times New Roman MT"/>
                <a:cs typeface="Times New Roman MT"/>
                <a:sym typeface="Times New Roman MT"/>
              </a:rPr>
              <a:t> fi</a:t>
            </a:r>
            <a:r>
              <a:rPr lang="en-US" sz="3752">
                <a:solidFill>
                  <a:srgbClr val="01070A"/>
                </a:solidFill>
                <a:latin typeface="Times New Roman MT"/>
                <a:ea typeface="Times New Roman MT"/>
                <a:cs typeface="Times New Roman MT"/>
                <a:sym typeface="Times New Roman MT"/>
              </a:rPr>
              <a:t>rst sent to the G</a:t>
            </a:r>
            <a:r>
              <a:rPr lang="en-US" sz="3752">
                <a:solidFill>
                  <a:srgbClr val="01070A"/>
                </a:solidFill>
                <a:latin typeface="Times New Roman MT"/>
                <a:ea typeface="Times New Roman MT"/>
                <a:cs typeface="Times New Roman MT"/>
                <a:sym typeface="Times New Roman MT"/>
              </a:rPr>
              <a:t>em</a:t>
            </a:r>
            <a:r>
              <a:rPr lang="en-US" sz="3752">
                <a:solidFill>
                  <a:srgbClr val="01070A"/>
                </a:solidFill>
                <a:latin typeface="Times New Roman MT"/>
                <a:ea typeface="Times New Roman MT"/>
                <a:cs typeface="Times New Roman MT"/>
                <a:sym typeface="Times New Roman MT"/>
              </a:rPr>
              <a:t>i</a:t>
            </a:r>
            <a:r>
              <a:rPr lang="en-US" sz="3752">
                <a:solidFill>
                  <a:srgbClr val="01070A"/>
                </a:solidFill>
                <a:latin typeface="Times New Roman MT"/>
                <a:ea typeface="Times New Roman MT"/>
                <a:cs typeface="Times New Roman MT"/>
                <a:sym typeface="Times New Roman MT"/>
              </a:rPr>
              <a:t>ni AI model for verificati</a:t>
            </a:r>
            <a:r>
              <a:rPr lang="en-US" sz="3752">
                <a:solidFill>
                  <a:srgbClr val="01070A"/>
                </a:solidFill>
                <a:latin typeface="Times New Roman MT"/>
                <a:ea typeface="Times New Roman MT"/>
                <a:cs typeface="Times New Roman MT"/>
                <a:sym typeface="Times New Roman MT"/>
              </a:rPr>
              <a:t>on</a:t>
            </a:r>
          </a:p>
          <a:p>
            <a:pPr algn="just" marL="810255" indent="-405128" lvl="1">
              <a:lnSpc>
                <a:spcPts val="5254"/>
              </a:lnSpc>
              <a:buFont typeface="Arial"/>
              <a:buChar char="•"/>
            </a:pPr>
            <a:r>
              <a:rPr lang="en-US" sz="3752">
                <a:solidFill>
                  <a:srgbClr val="01070A"/>
                </a:solidFill>
                <a:latin typeface="Times New Roman MT"/>
                <a:ea typeface="Times New Roman MT"/>
                <a:cs typeface="Times New Roman MT"/>
                <a:sym typeface="Times New Roman MT"/>
              </a:rPr>
              <a:t>Gemini analyzes the news and generates prediction with reasoning</a:t>
            </a:r>
          </a:p>
          <a:p>
            <a:pPr algn="just" marL="810255" indent="-405128" lvl="1">
              <a:lnSpc>
                <a:spcPts val="5254"/>
              </a:lnSpc>
              <a:buFont typeface="Arial"/>
              <a:buChar char="•"/>
            </a:pPr>
            <a:r>
              <a:rPr lang="en-US" sz="3752">
                <a:solidFill>
                  <a:srgbClr val="01070A"/>
                </a:solidFill>
                <a:latin typeface="Times New Roman MT"/>
                <a:ea typeface="Times New Roman MT"/>
                <a:cs typeface="Times New Roman MT"/>
                <a:sym typeface="Times New Roman MT"/>
              </a:rPr>
              <a:t>If Gemini fails or becomes unavailable, the system automatically switches to OpenAI</a:t>
            </a:r>
          </a:p>
          <a:p>
            <a:pPr algn="just" marL="810255" indent="-405128" lvl="1">
              <a:lnSpc>
                <a:spcPts val="5254"/>
              </a:lnSpc>
              <a:buFont typeface="Arial"/>
              <a:buChar char="•"/>
            </a:pPr>
            <a:r>
              <a:rPr lang="en-US" sz="3752">
                <a:solidFill>
                  <a:srgbClr val="01070A"/>
                </a:solidFill>
                <a:latin typeface="Times New Roman MT"/>
                <a:ea typeface="Times New Roman MT"/>
                <a:cs typeface="Times New Roman MT"/>
                <a:sym typeface="Times New Roman MT"/>
              </a:rPr>
              <a:t>OpenAI performs the same</a:t>
            </a:r>
            <a:r>
              <a:rPr lang="en-US" sz="3752">
                <a:solidFill>
                  <a:srgbClr val="01070A"/>
                </a:solidFill>
                <a:latin typeface="Times New Roman MT"/>
                <a:ea typeface="Times New Roman MT"/>
                <a:cs typeface="Times New Roman MT"/>
                <a:sym typeface="Times New Roman MT"/>
              </a:rPr>
              <a:t> c</a:t>
            </a:r>
            <a:r>
              <a:rPr lang="en-US" sz="3752">
                <a:solidFill>
                  <a:srgbClr val="01070A"/>
                </a:solidFill>
                <a:latin typeface="Times New Roman MT"/>
                <a:ea typeface="Times New Roman MT"/>
                <a:cs typeface="Times New Roman MT"/>
                <a:sym typeface="Times New Roman MT"/>
              </a:rPr>
              <a:t>ontextual verification and prediction process</a:t>
            </a:r>
          </a:p>
          <a:p>
            <a:pPr algn="just" marL="810255" indent="-405128" lvl="1">
              <a:lnSpc>
                <a:spcPts val="5254"/>
              </a:lnSpc>
              <a:buFont typeface="Arial"/>
              <a:buChar char="•"/>
            </a:pPr>
            <a:r>
              <a:rPr lang="en-US" sz="3752">
                <a:solidFill>
                  <a:srgbClr val="01070A"/>
                </a:solidFill>
                <a:latin typeface="Times New Roman MT"/>
                <a:ea typeface="Times New Roman MT"/>
                <a:cs typeface="Times New Roman MT"/>
                <a:sym typeface="Times New Roman MT"/>
              </a:rPr>
              <a:t>If both Gemini and OpenAI are unavailable, the system uses Ollama as a local fallback</a:t>
            </a:r>
            <a:r>
              <a:rPr lang="en-US" sz="3752">
                <a:solidFill>
                  <a:srgbClr val="01070A"/>
                </a:solidFill>
                <a:latin typeface="Times New Roman MT"/>
                <a:ea typeface="Times New Roman MT"/>
                <a:cs typeface="Times New Roman MT"/>
                <a:sym typeface="Times New Roman MT"/>
              </a:rPr>
              <a:t> model</a:t>
            </a:r>
          </a:p>
          <a:p>
            <a:pPr algn="just" marL="810255" indent="-405128" lvl="1">
              <a:lnSpc>
                <a:spcPts val="5254"/>
              </a:lnSpc>
              <a:buFont typeface="Arial"/>
              <a:buChar char="•"/>
            </a:pPr>
            <a:r>
              <a:rPr lang="en-US" sz="3752">
                <a:solidFill>
                  <a:srgbClr val="01070A"/>
                </a:solidFill>
                <a:latin typeface="Times New Roman MT"/>
                <a:ea typeface="Times New Roman MT"/>
                <a:cs typeface="Times New Roman MT"/>
                <a:sym typeface="Times New Roman MT"/>
              </a:rPr>
              <a:t>Ol</a:t>
            </a:r>
            <a:r>
              <a:rPr lang="en-US" sz="3752">
                <a:solidFill>
                  <a:srgbClr val="01070A"/>
                </a:solidFill>
                <a:latin typeface="Times New Roman MT"/>
                <a:ea typeface="Times New Roman MT"/>
                <a:cs typeface="Times New Roman MT"/>
                <a:sym typeface="Times New Roman MT"/>
              </a:rPr>
              <a:t>lama gen</a:t>
            </a:r>
            <a:r>
              <a:rPr lang="en-US" sz="3752">
                <a:solidFill>
                  <a:srgbClr val="01070A"/>
                </a:solidFill>
                <a:latin typeface="Times New Roman MT"/>
                <a:ea typeface="Times New Roman MT"/>
                <a:cs typeface="Times New Roman MT"/>
                <a:sym typeface="Times New Roman MT"/>
              </a:rPr>
              <a:t>erate</a:t>
            </a:r>
            <a:r>
              <a:rPr lang="en-US" sz="3752">
                <a:solidFill>
                  <a:srgbClr val="01070A"/>
                </a:solidFill>
                <a:latin typeface="Times New Roman MT"/>
                <a:ea typeface="Times New Roman MT"/>
                <a:cs typeface="Times New Roman MT"/>
                <a:sym typeface="Times New Roman MT"/>
              </a:rPr>
              <a:t>s the final verification </a:t>
            </a:r>
            <a:r>
              <a:rPr lang="en-US" sz="3752">
                <a:solidFill>
                  <a:srgbClr val="01070A"/>
                </a:solidFill>
                <a:latin typeface="Times New Roman MT"/>
                <a:ea typeface="Times New Roman MT"/>
                <a:cs typeface="Times New Roman MT"/>
                <a:sym typeface="Times New Roman MT"/>
              </a:rPr>
              <a:t>output offl</a:t>
            </a:r>
            <a:r>
              <a:rPr lang="en-US" sz="3752">
                <a:solidFill>
                  <a:srgbClr val="01070A"/>
                </a:solidFill>
                <a:latin typeface="Times New Roman MT"/>
                <a:ea typeface="Times New Roman MT"/>
                <a:cs typeface="Times New Roman MT"/>
                <a:sym typeface="Times New Roman MT"/>
              </a:rPr>
              <a:t>in</a:t>
            </a:r>
            <a:r>
              <a:rPr lang="en-US" sz="3752">
                <a:solidFill>
                  <a:srgbClr val="01070A"/>
                </a:solidFill>
                <a:latin typeface="Times New Roman MT"/>
                <a:ea typeface="Times New Roman MT"/>
                <a:cs typeface="Times New Roman MT"/>
                <a:sym typeface="Times New Roman MT"/>
              </a:rPr>
              <a:t>e</a:t>
            </a:r>
          </a:p>
          <a:p>
            <a:pPr algn="just" marL="810255" indent="-405128" lvl="1">
              <a:lnSpc>
                <a:spcPts val="5254"/>
              </a:lnSpc>
              <a:buFont typeface="Arial"/>
              <a:buChar char="•"/>
            </a:pPr>
            <a:r>
              <a:rPr lang="en-US" sz="3752">
                <a:solidFill>
                  <a:srgbClr val="01070A"/>
                </a:solidFill>
                <a:latin typeface="Times New Roman MT"/>
                <a:ea typeface="Times New Roman MT"/>
                <a:cs typeface="Times New Roman MT"/>
                <a:sym typeface="Times New Roman MT"/>
              </a:rPr>
              <a:t>The</a:t>
            </a:r>
            <a:r>
              <a:rPr lang="en-US" sz="3752">
                <a:solidFill>
                  <a:srgbClr val="01070A"/>
                </a:solidFill>
                <a:latin typeface="Times New Roman MT"/>
                <a:ea typeface="Times New Roman MT"/>
                <a:cs typeface="Times New Roman MT"/>
                <a:sym typeface="Times New Roman MT"/>
              </a:rPr>
              <a:t> </a:t>
            </a:r>
            <a:r>
              <a:rPr lang="en-US" sz="3752">
                <a:solidFill>
                  <a:srgbClr val="01070A"/>
                </a:solidFill>
                <a:latin typeface="Times New Roman MT"/>
                <a:ea typeface="Times New Roman MT"/>
                <a:cs typeface="Times New Roman MT"/>
                <a:sym typeface="Times New Roman MT"/>
              </a:rPr>
              <a:t>predi</a:t>
            </a:r>
            <a:r>
              <a:rPr lang="en-US" sz="3752">
                <a:solidFill>
                  <a:srgbClr val="01070A"/>
                </a:solidFill>
                <a:latin typeface="Times New Roman MT"/>
                <a:ea typeface="Times New Roman MT"/>
                <a:cs typeface="Times New Roman MT"/>
                <a:sym typeface="Times New Roman MT"/>
              </a:rPr>
              <a:t>ction and confidence score are then sent to the Fusion Engine for final decision making</a:t>
            </a:r>
          </a:p>
          <a:p>
            <a:pPr algn="just">
              <a:lnSpc>
                <a:spcPts val="5254"/>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TextBox 3" id="3"/>
          <p:cNvSpPr txBox="true"/>
          <p:nvPr/>
        </p:nvSpPr>
        <p:spPr>
          <a:xfrm rot="0">
            <a:off x="740279" y="1774596"/>
            <a:ext cx="12444825" cy="7992158"/>
          </a:xfrm>
          <a:prstGeom prst="rect">
            <a:avLst/>
          </a:prstGeom>
        </p:spPr>
        <p:txBody>
          <a:bodyPr anchor="t" rtlCol="false" tIns="0" lIns="0" bIns="0" rIns="0">
            <a:spAutoFit/>
          </a:bodyPr>
          <a:lstStyle/>
          <a:p>
            <a:pPr algn="l" marL="804143" indent="-402071" lvl="1">
              <a:lnSpc>
                <a:spcPts val="5214"/>
              </a:lnSpc>
              <a:buFont typeface="Arial"/>
              <a:buChar char="•"/>
            </a:pPr>
            <a:r>
              <a:rPr lang="en-US" sz="3724">
                <a:solidFill>
                  <a:srgbClr val="000000"/>
                </a:solidFill>
                <a:latin typeface="Times New Roman MT"/>
                <a:ea typeface="Times New Roman MT"/>
                <a:cs typeface="Times New Roman MT"/>
                <a:sym typeface="Times New Roman MT"/>
              </a:rPr>
              <a:t>Accepts multimodal inputs such as Text, URL, and Images</a:t>
            </a:r>
          </a:p>
          <a:p>
            <a:pPr algn="l" marL="804143" indent="-402071" lvl="1">
              <a:lnSpc>
                <a:spcPts val="5214"/>
              </a:lnSpc>
              <a:buFont typeface="Arial"/>
              <a:buChar char="•"/>
            </a:pPr>
            <a:r>
              <a:rPr lang="en-US" sz="3724">
                <a:solidFill>
                  <a:srgbClr val="000000"/>
                </a:solidFill>
                <a:latin typeface="Times New Roman MT"/>
                <a:ea typeface="Times New Roman MT"/>
                <a:cs typeface="Times New Roman MT"/>
                <a:sym typeface="Times New Roman MT"/>
              </a:rPr>
              <a:t>Extracts content using URL scraping and OCR processing</a:t>
            </a:r>
          </a:p>
          <a:p>
            <a:pPr algn="l" marL="804143" indent="-402071" lvl="1">
              <a:lnSpc>
                <a:spcPts val="5214"/>
              </a:lnSpc>
              <a:buFont typeface="Arial"/>
              <a:buChar char="•"/>
            </a:pPr>
            <a:r>
              <a:rPr lang="en-US" sz="3724">
                <a:solidFill>
                  <a:srgbClr val="000000"/>
                </a:solidFill>
                <a:latin typeface="Times New Roman MT"/>
                <a:ea typeface="Times New Roman MT"/>
                <a:cs typeface="Times New Roman MT"/>
                <a:sym typeface="Times New Roman MT"/>
              </a:rPr>
              <a:t>Uses DistilBERT for fake news classification</a:t>
            </a:r>
          </a:p>
          <a:p>
            <a:pPr algn="l" marL="804143" indent="-402071" lvl="1">
              <a:lnSpc>
                <a:spcPts val="5214"/>
              </a:lnSpc>
              <a:buFont typeface="Arial"/>
              <a:buChar char="•"/>
            </a:pPr>
            <a:r>
              <a:rPr lang="en-US" sz="3724">
                <a:solidFill>
                  <a:srgbClr val="000000"/>
                </a:solidFill>
                <a:latin typeface="Times New Roman MT"/>
                <a:ea typeface="Times New Roman MT"/>
                <a:cs typeface="Times New Roman MT"/>
                <a:sym typeface="Times New Roman MT"/>
              </a:rPr>
              <a:t>Performs source credibility and API-based verification</a:t>
            </a:r>
          </a:p>
          <a:p>
            <a:pPr algn="l" marL="804143" indent="-402071" lvl="1">
              <a:lnSpc>
                <a:spcPts val="5214"/>
              </a:lnSpc>
              <a:buFont typeface="Arial"/>
              <a:buChar char="•"/>
            </a:pPr>
            <a:r>
              <a:rPr lang="en-US" sz="3724">
                <a:solidFill>
                  <a:srgbClr val="000000"/>
                </a:solidFill>
                <a:latin typeface="Times New Roman MT"/>
                <a:ea typeface="Times New Roman MT"/>
                <a:cs typeface="Times New Roman MT"/>
                <a:sym typeface="Times New Roman MT"/>
              </a:rPr>
              <a:t>Integrates LLM reasoning using Gemini, OpenAI, and Ollama</a:t>
            </a:r>
          </a:p>
          <a:p>
            <a:pPr algn="l" marL="804143" indent="-402071" lvl="1">
              <a:lnSpc>
                <a:spcPts val="5214"/>
              </a:lnSpc>
              <a:buFont typeface="Arial"/>
              <a:buChar char="•"/>
            </a:pPr>
            <a:r>
              <a:rPr lang="en-US" sz="3724">
                <a:solidFill>
                  <a:srgbClr val="000000"/>
                </a:solidFill>
                <a:latin typeface="Times New Roman MT"/>
                <a:ea typeface="Times New Roman MT"/>
                <a:cs typeface="Times New Roman MT"/>
                <a:sym typeface="Times New Roman MT"/>
              </a:rPr>
              <a:t>Applies a fusion engine for weighted decision making</a:t>
            </a:r>
          </a:p>
          <a:p>
            <a:pPr algn="l" marL="804143" indent="-402071" lvl="1">
              <a:lnSpc>
                <a:spcPts val="5214"/>
              </a:lnSpc>
              <a:buFont typeface="Arial"/>
              <a:buChar char="•"/>
            </a:pPr>
            <a:r>
              <a:rPr lang="en-US" sz="3724">
                <a:solidFill>
                  <a:srgbClr val="000000"/>
                </a:solidFill>
                <a:latin typeface="Times New Roman MT"/>
                <a:ea typeface="Times New Roman MT"/>
                <a:cs typeface="Times New Roman MT"/>
                <a:sym typeface="Times New Roman MT"/>
              </a:rPr>
              <a:t>Generates final REAL/FAKE verdict with confidence score</a:t>
            </a:r>
          </a:p>
          <a:p>
            <a:pPr algn="l">
              <a:lnSpc>
                <a:spcPts val="5214"/>
              </a:lnSpc>
            </a:pPr>
          </a:p>
        </p:txBody>
      </p:sp>
      <p:sp>
        <p:nvSpPr>
          <p:cNvPr name="Freeform 4" id="4"/>
          <p:cNvSpPr/>
          <p:nvPr/>
        </p:nvSpPr>
        <p:spPr>
          <a:xfrm flipH="false" flipV="false" rot="0">
            <a:off x="9899124" y="227532"/>
            <a:ext cx="9577634" cy="10379249"/>
          </a:xfrm>
          <a:custGeom>
            <a:avLst/>
            <a:gdLst/>
            <a:ahLst/>
            <a:cxnLst/>
            <a:rect r="r" b="b" t="t" l="l"/>
            <a:pathLst>
              <a:path h="10379249" w="9577634">
                <a:moveTo>
                  <a:pt x="0" y="0"/>
                </a:moveTo>
                <a:lnTo>
                  <a:pt x="9577634" y="0"/>
                </a:lnTo>
                <a:lnTo>
                  <a:pt x="9577634" y="10379249"/>
                </a:lnTo>
                <a:lnTo>
                  <a:pt x="0" y="10379249"/>
                </a:lnTo>
                <a:lnTo>
                  <a:pt x="0" y="0"/>
                </a:lnTo>
                <a:close/>
              </a:path>
            </a:pathLst>
          </a:custGeom>
          <a:blipFill>
            <a:blip r:embed="rId3"/>
            <a:stretch>
              <a:fillRect l="-77405" t="-21931" r="-82565" b="-12408"/>
            </a:stretch>
          </a:blipFill>
        </p:spPr>
      </p:sp>
      <p:sp>
        <p:nvSpPr>
          <p:cNvPr name="TextBox 5" id="5"/>
          <p:cNvSpPr txBox="true"/>
          <p:nvPr/>
        </p:nvSpPr>
        <p:spPr>
          <a:xfrm rot="0">
            <a:off x="1691159" y="633558"/>
            <a:ext cx="7720378" cy="1632860"/>
          </a:xfrm>
          <a:prstGeom prst="rect">
            <a:avLst/>
          </a:prstGeom>
        </p:spPr>
        <p:txBody>
          <a:bodyPr anchor="t" rtlCol="false" tIns="0" lIns="0" bIns="0" rIns="0">
            <a:spAutoFit/>
          </a:bodyPr>
          <a:lstStyle/>
          <a:p>
            <a:pPr algn="ctr">
              <a:lnSpc>
                <a:spcPts val="6576"/>
              </a:lnSpc>
              <a:spcBef>
                <a:spcPct val="0"/>
              </a:spcBef>
            </a:pPr>
            <a:r>
              <a:rPr lang="en-US" sz="4697">
                <a:solidFill>
                  <a:srgbClr val="000000"/>
                </a:solidFill>
                <a:latin typeface="Carelia"/>
                <a:ea typeface="Carelia"/>
                <a:cs typeface="Carelia"/>
                <a:sym typeface="Carelia"/>
              </a:rPr>
              <a:t> SYSTEM ARCHITECTURE</a:t>
            </a:r>
          </a:p>
          <a:p>
            <a:pPr algn="ctr">
              <a:lnSpc>
                <a:spcPts val="6576"/>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1940943" y="8229600"/>
            <a:ext cx="5939287" cy="4114800"/>
          </a:xfrm>
          <a:custGeom>
            <a:avLst/>
            <a:gdLst/>
            <a:ahLst/>
            <a:cxnLst/>
            <a:rect r="r" b="b" t="t" l="l"/>
            <a:pathLst>
              <a:path h="4114800" w="5939287">
                <a:moveTo>
                  <a:pt x="0" y="0"/>
                </a:moveTo>
                <a:lnTo>
                  <a:pt x="5939286" y="0"/>
                </a:lnTo>
                <a:lnTo>
                  <a:pt x="5939286"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68813" y="1116991"/>
            <a:ext cx="11578503" cy="1591441"/>
          </a:xfrm>
          <a:prstGeom prst="rect">
            <a:avLst/>
          </a:prstGeom>
        </p:spPr>
        <p:txBody>
          <a:bodyPr anchor="t" rtlCol="false" tIns="0" lIns="0" bIns="0" rIns="0">
            <a:spAutoFit/>
          </a:bodyPr>
          <a:lstStyle/>
          <a:p>
            <a:pPr algn="ctr">
              <a:lnSpc>
                <a:spcPts val="6412"/>
              </a:lnSpc>
            </a:pPr>
            <a:r>
              <a:rPr lang="en-US" sz="4580">
                <a:solidFill>
                  <a:srgbClr val="01070A"/>
                </a:solidFill>
                <a:latin typeface="Carelia"/>
                <a:ea typeface="Carelia"/>
                <a:cs typeface="Carelia"/>
                <a:sym typeface="Carelia"/>
              </a:rPr>
              <a:t>BACKEND SERVICE ARCHITECTURE</a:t>
            </a:r>
          </a:p>
          <a:p>
            <a:pPr algn="ctr" marL="0" indent="0" lvl="0">
              <a:lnSpc>
                <a:spcPts val="6412"/>
              </a:lnSpc>
              <a:spcBef>
                <a:spcPct val="0"/>
              </a:spcBef>
            </a:pPr>
          </a:p>
        </p:txBody>
      </p:sp>
      <p:sp>
        <p:nvSpPr>
          <p:cNvPr name="TextBox 5" id="5"/>
          <p:cNvSpPr txBox="true"/>
          <p:nvPr/>
        </p:nvSpPr>
        <p:spPr>
          <a:xfrm rot="0">
            <a:off x="568813" y="1803174"/>
            <a:ext cx="16413532" cy="7142907"/>
          </a:xfrm>
          <a:prstGeom prst="rect">
            <a:avLst/>
          </a:prstGeom>
        </p:spPr>
        <p:txBody>
          <a:bodyPr anchor="t" rtlCol="false" tIns="0" lIns="0" bIns="0" rIns="0">
            <a:spAutoFit/>
          </a:bodyPr>
          <a:lstStyle/>
          <a:p>
            <a:pPr algn="l">
              <a:lnSpc>
                <a:spcPts val="5593"/>
              </a:lnSpc>
            </a:pPr>
          </a:p>
          <a:p>
            <a:pPr algn="l" marL="862522" indent="-431261" lvl="1">
              <a:lnSpc>
                <a:spcPts val="5593"/>
              </a:lnSpc>
              <a:buFont typeface="Arial"/>
              <a:buChar char="•"/>
            </a:pPr>
            <a:r>
              <a:rPr lang="en-US" sz="3995">
                <a:solidFill>
                  <a:srgbClr val="000000"/>
                </a:solidFill>
                <a:latin typeface="Times New Roman MT"/>
                <a:ea typeface="Times New Roman MT"/>
                <a:cs typeface="Times New Roman MT"/>
                <a:sym typeface="Times New Roman MT"/>
              </a:rPr>
              <a:t>Developed backend services using Flask for real-time fake news analysis</a:t>
            </a:r>
          </a:p>
          <a:p>
            <a:pPr algn="l" marL="862522" indent="-431261" lvl="1">
              <a:lnSpc>
                <a:spcPts val="5593"/>
              </a:lnSpc>
              <a:buFont typeface="Arial"/>
              <a:buChar char="•"/>
            </a:pPr>
            <a:r>
              <a:rPr lang="en-US" sz="3995">
                <a:solidFill>
                  <a:srgbClr val="000000"/>
                </a:solidFill>
                <a:latin typeface="Times New Roman MT"/>
                <a:ea typeface="Times New Roman MT"/>
                <a:cs typeface="Times New Roman MT"/>
                <a:sym typeface="Times New Roman MT"/>
              </a:rPr>
              <a:t>Implemented REST APIs for text, URL, and image prediction requests</a:t>
            </a:r>
          </a:p>
          <a:p>
            <a:pPr algn="l" marL="862522" indent="-431261" lvl="1">
              <a:lnSpc>
                <a:spcPts val="5593"/>
              </a:lnSpc>
              <a:buFont typeface="Arial"/>
              <a:buChar char="•"/>
            </a:pPr>
            <a:r>
              <a:rPr lang="en-US" sz="3995">
                <a:solidFill>
                  <a:srgbClr val="000000"/>
                </a:solidFill>
                <a:latin typeface="Times New Roman MT"/>
                <a:ea typeface="Times New Roman MT"/>
                <a:cs typeface="Times New Roman MT"/>
                <a:sym typeface="Times New Roman MT"/>
              </a:rPr>
              <a:t>Integrated OCR, translation, ML, and LLM services into a unified pipeline</a:t>
            </a:r>
          </a:p>
          <a:p>
            <a:pPr algn="l" marL="862522" indent="-431261" lvl="1">
              <a:lnSpc>
                <a:spcPts val="5593"/>
              </a:lnSpc>
              <a:buFont typeface="Arial"/>
              <a:buChar char="•"/>
            </a:pPr>
            <a:r>
              <a:rPr lang="en-US" sz="3995">
                <a:solidFill>
                  <a:srgbClr val="000000"/>
                </a:solidFill>
                <a:latin typeface="Times New Roman MT"/>
                <a:ea typeface="Times New Roman MT"/>
                <a:cs typeface="Times New Roman MT"/>
                <a:sym typeface="Times New Roman MT"/>
              </a:rPr>
              <a:t>Connected MongoDB Atlas for storing prediction history and analytics</a:t>
            </a:r>
          </a:p>
          <a:p>
            <a:pPr algn="l" marL="862522" indent="-431261" lvl="1">
              <a:lnSpc>
                <a:spcPts val="5593"/>
              </a:lnSpc>
              <a:buFont typeface="Arial"/>
              <a:buChar char="•"/>
            </a:pPr>
            <a:r>
              <a:rPr lang="en-US" sz="3995">
                <a:solidFill>
                  <a:srgbClr val="000000"/>
                </a:solidFill>
                <a:latin typeface="Times New Roman MT"/>
                <a:ea typeface="Times New Roman MT"/>
                <a:cs typeface="Times New Roman MT"/>
                <a:sym typeface="Times New Roman MT"/>
              </a:rPr>
              <a:t>Enabled communication between frontend, backend, and AI models</a:t>
            </a:r>
          </a:p>
          <a:p>
            <a:pPr algn="l" marL="862522" indent="-431261" lvl="1">
              <a:lnSpc>
                <a:spcPts val="5593"/>
              </a:lnSpc>
              <a:buFont typeface="Arial"/>
              <a:buChar char="•"/>
            </a:pPr>
            <a:r>
              <a:rPr lang="en-US" sz="3995">
                <a:solidFill>
                  <a:srgbClr val="000000"/>
                </a:solidFill>
                <a:latin typeface="Times New Roman MT"/>
                <a:ea typeface="Times New Roman MT"/>
                <a:cs typeface="Times New Roman MT"/>
                <a:sym typeface="Times New Roman MT"/>
              </a:rPr>
              <a:t>Generated structured JSON responses with prediction and confidence results</a:t>
            </a:r>
          </a:p>
          <a:p>
            <a:pPr algn="l">
              <a:lnSpc>
                <a:spcPts val="5593"/>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15054584" y="9015888"/>
            <a:ext cx="3223891" cy="1403879"/>
          </a:xfrm>
          <a:custGeom>
            <a:avLst/>
            <a:gdLst/>
            <a:ahLst/>
            <a:cxnLst/>
            <a:rect r="r" b="b" t="t" l="l"/>
            <a:pathLst>
              <a:path h="1403879" w="3223891">
                <a:moveTo>
                  <a:pt x="0" y="0"/>
                </a:moveTo>
                <a:lnTo>
                  <a:pt x="3223891" y="0"/>
                </a:lnTo>
                <a:lnTo>
                  <a:pt x="3223891" y="1403879"/>
                </a:lnTo>
                <a:lnTo>
                  <a:pt x="0" y="14038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59980" y="2314806"/>
            <a:ext cx="12876866" cy="7403022"/>
          </a:xfrm>
          <a:prstGeom prst="rect">
            <a:avLst/>
          </a:prstGeom>
        </p:spPr>
        <p:txBody>
          <a:bodyPr anchor="t" rtlCol="false" tIns="0" lIns="0" bIns="0" rIns="0">
            <a:spAutoFit/>
          </a:bodyPr>
          <a:lstStyle/>
          <a:p>
            <a:pPr algn="l" marL="812215" indent="-406108" lvl="1">
              <a:lnSpc>
                <a:spcPts val="5266"/>
              </a:lnSpc>
              <a:buFont typeface="Arial"/>
              <a:buChar char="•"/>
            </a:pPr>
            <a:r>
              <a:rPr lang="en-US" sz="3761">
                <a:solidFill>
                  <a:srgbClr val="000000"/>
                </a:solidFill>
                <a:latin typeface="Times New Roman MT"/>
                <a:ea typeface="Times New Roman MT"/>
                <a:cs typeface="Times New Roman MT"/>
                <a:sym typeface="Times New Roman MT"/>
              </a:rPr>
              <a:t>The DistilBERT model a</a:t>
            </a:r>
            <a:r>
              <a:rPr lang="en-US" sz="3761">
                <a:solidFill>
                  <a:srgbClr val="000000"/>
                </a:solidFill>
                <a:latin typeface="Times New Roman MT"/>
                <a:ea typeface="Times New Roman MT"/>
                <a:cs typeface="Times New Roman MT"/>
                <a:sym typeface="Times New Roman MT"/>
              </a:rPr>
              <a:t>chieved high classification accuracy on unseen fake news samples</a:t>
            </a:r>
          </a:p>
          <a:p>
            <a:pPr algn="l" marL="812215" indent="-406108" lvl="1">
              <a:lnSpc>
                <a:spcPts val="5266"/>
              </a:lnSpc>
              <a:buFont typeface="Arial"/>
              <a:buChar char="•"/>
            </a:pPr>
            <a:r>
              <a:rPr lang="en-US" sz="3761">
                <a:solidFill>
                  <a:srgbClr val="000000"/>
                </a:solidFill>
                <a:latin typeface="Times New Roman MT"/>
                <a:ea typeface="Times New Roman MT"/>
                <a:cs typeface="Times New Roman MT"/>
                <a:sym typeface="Times New Roman MT"/>
              </a:rPr>
              <a:t>The system successfully handled Text, URL, and Image-based news verification in real time</a:t>
            </a:r>
          </a:p>
          <a:p>
            <a:pPr algn="l" marL="812215" indent="-406108" lvl="1">
              <a:lnSpc>
                <a:spcPts val="5266"/>
              </a:lnSpc>
              <a:buFont typeface="Arial"/>
              <a:buChar char="•"/>
            </a:pPr>
            <a:r>
              <a:rPr lang="en-US" sz="3761">
                <a:solidFill>
                  <a:srgbClr val="000000"/>
                </a:solidFill>
                <a:latin typeface="Times New Roman MT"/>
                <a:ea typeface="Times New Roman MT"/>
                <a:cs typeface="Times New Roman MT"/>
                <a:sym typeface="Times New Roman MT"/>
              </a:rPr>
              <a:t>Combining ML prediction with LLM reasoning improved overall prediction reliability</a:t>
            </a:r>
          </a:p>
          <a:p>
            <a:pPr algn="l" marL="812215" indent="-406108" lvl="1">
              <a:lnSpc>
                <a:spcPts val="5266"/>
              </a:lnSpc>
              <a:buFont typeface="Arial"/>
              <a:buChar char="•"/>
            </a:pPr>
            <a:r>
              <a:rPr lang="en-US" sz="3761">
                <a:solidFill>
                  <a:srgbClr val="000000"/>
                </a:solidFill>
                <a:latin typeface="Times New Roman MT"/>
                <a:ea typeface="Times New Roman MT"/>
                <a:cs typeface="Times New Roman MT"/>
                <a:sym typeface="Times New Roman MT"/>
              </a:rPr>
              <a:t>The fusion engine produced more balanced and confidence-aware final decisions</a:t>
            </a:r>
          </a:p>
          <a:p>
            <a:pPr algn="l" marL="812215" indent="-406108" lvl="1">
              <a:lnSpc>
                <a:spcPts val="5266"/>
              </a:lnSpc>
              <a:buFont typeface="Arial"/>
              <a:buChar char="•"/>
            </a:pPr>
            <a:r>
              <a:rPr lang="en-US" sz="3761">
                <a:solidFill>
                  <a:srgbClr val="000000"/>
                </a:solidFill>
                <a:latin typeface="Times New Roman MT"/>
                <a:ea typeface="Times New Roman MT"/>
                <a:cs typeface="Times New Roman MT"/>
                <a:sym typeface="Times New Roman MT"/>
              </a:rPr>
              <a:t>Optimized inference pipeline enabled fast response generation for real-time analysis</a:t>
            </a:r>
          </a:p>
          <a:p>
            <a:pPr algn="l">
              <a:lnSpc>
                <a:spcPts val="5266"/>
              </a:lnSpc>
            </a:pPr>
          </a:p>
        </p:txBody>
      </p:sp>
      <p:sp>
        <p:nvSpPr>
          <p:cNvPr name="TextBox 5" id="5"/>
          <p:cNvSpPr txBox="true"/>
          <p:nvPr/>
        </p:nvSpPr>
        <p:spPr>
          <a:xfrm rot="0">
            <a:off x="359980" y="985105"/>
            <a:ext cx="10981407" cy="836825"/>
          </a:xfrm>
          <a:prstGeom prst="rect">
            <a:avLst/>
          </a:prstGeom>
        </p:spPr>
        <p:txBody>
          <a:bodyPr anchor="t" rtlCol="false" tIns="0" lIns="0" bIns="0" rIns="0">
            <a:spAutoFit/>
          </a:bodyPr>
          <a:lstStyle/>
          <a:p>
            <a:pPr algn="ctr" marL="0" indent="0" lvl="0">
              <a:lnSpc>
                <a:spcPts val="6891"/>
              </a:lnSpc>
              <a:spcBef>
                <a:spcPct val="0"/>
              </a:spcBef>
            </a:pPr>
            <a:r>
              <a:rPr lang="en-US" sz="4922">
                <a:solidFill>
                  <a:srgbClr val="01070A"/>
                </a:solidFill>
                <a:latin typeface="Carelia"/>
                <a:ea typeface="Carelia"/>
                <a:cs typeface="Carelia"/>
                <a:sym typeface="Carelia"/>
              </a:rPr>
              <a:t>Results &amp; Performance Analysis</a:t>
            </a:r>
          </a:p>
        </p:txBody>
      </p:sp>
      <p:sp>
        <p:nvSpPr>
          <p:cNvPr name="TextBox 6" id="6"/>
          <p:cNvSpPr txBox="true"/>
          <p:nvPr/>
        </p:nvSpPr>
        <p:spPr>
          <a:xfrm rot="0">
            <a:off x="11341387" y="1519553"/>
            <a:ext cx="8479824" cy="8637042"/>
          </a:xfrm>
          <a:prstGeom prst="rect">
            <a:avLst/>
          </a:prstGeom>
        </p:spPr>
        <p:txBody>
          <a:bodyPr anchor="t" rtlCol="false" tIns="0" lIns="0" bIns="0" rIns="0">
            <a:spAutoFit/>
          </a:bodyPr>
          <a:lstStyle/>
          <a:p>
            <a:pPr algn="ctr">
              <a:lnSpc>
                <a:spcPts val="6263"/>
              </a:lnSpc>
              <a:spcBef>
                <a:spcPct val="0"/>
              </a:spcBef>
            </a:pPr>
          </a:p>
          <a:p>
            <a:pPr algn="ctr">
              <a:lnSpc>
                <a:spcPts val="6263"/>
              </a:lnSpc>
              <a:spcBef>
                <a:spcPct val="0"/>
              </a:spcBef>
            </a:pPr>
          </a:p>
          <a:p>
            <a:pPr algn="ctr">
              <a:lnSpc>
                <a:spcPts val="6263"/>
              </a:lnSpc>
              <a:spcBef>
                <a:spcPct val="0"/>
              </a:spcBef>
            </a:pPr>
            <a:r>
              <a:rPr lang="en-US" sz="4473">
                <a:solidFill>
                  <a:srgbClr val="000000"/>
                </a:solidFill>
                <a:latin typeface="Carelia"/>
                <a:ea typeface="Carelia"/>
                <a:cs typeface="Carelia"/>
                <a:sym typeface="Carelia"/>
              </a:rPr>
              <a:t>| Metric    | Value |</a:t>
            </a:r>
          </a:p>
          <a:p>
            <a:pPr algn="ctr">
              <a:lnSpc>
                <a:spcPts val="6263"/>
              </a:lnSpc>
              <a:spcBef>
                <a:spcPct val="0"/>
              </a:spcBef>
            </a:pPr>
            <a:r>
              <a:rPr lang="en-US" sz="4473">
                <a:solidFill>
                  <a:srgbClr val="000000"/>
                </a:solidFill>
                <a:latin typeface="Carelia"/>
                <a:ea typeface="Carelia"/>
                <a:cs typeface="Carelia"/>
                <a:sym typeface="Carelia"/>
              </a:rPr>
              <a:t>| --------- | ----- |</a:t>
            </a:r>
          </a:p>
          <a:p>
            <a:pPr algn="ctr">
              <a:lnSpc>
                <a:spcPts val="6263"/>
              </a:lnSpc>
              <a:spcBef>
                <a:spcPct val="0"/>
              </a:spcBef>
            </a:pPr>
            <a:r>
              <a:rPr lang="en-US" sz="4473">
                <a:solidFill>
                  <a:srgbClr val="000000"/>
                </a:solidFill>
                <a:latin typeface="Carelia"/>
                <a:ea typeface="Carelia"/>
                <a:cs typeface="Carelia"/>
                <a:sym typeface="Carelia"/>
              </a:rPr>
              <a:t>| Accuracy  | 91.5% |</a:t>
            </a:r>
          </a:p>
          <a:p>
            <a:pPr algn="ctr">
              <a:lnSpc>
                <a:spcPts val="6263"/>
              </a:lnSpc>
              <a:spcBef>
                <a:spcPct val="0"/>
              </a:spcBef>
            </a:pPr>
            <a:r>
              <a:rPr lang="en-US" sz="4473">
                <a:solidFill>
                  <a:srgbClr val="000000"/>
                </a:solidFill>
                <a:latin typeface="Carelia"/>
                <a:ea typeface="Carelia"/>
                <a:cs typeface="Carelia"/>
                <a:sym typeface="Carelia"/>
              </a:rPr>
              <a:t>| Precision | 91.1% |</a:t>
            </a:r>
          </a:p>
          <a:p>
            <a:pPr algn="ctr">
              <a:lnSpc>
                <a:spcPts val="6263"/>
              </a:lnSpc>
              <a:spcBef>
                <a:spcPct val="0"/>
              </a:spcBef>
            </a:pPr>
            <a:r>
              <a:rPr lang="en-US" sz="4473">
                <a:solidFill>
                  <a:srgbClr val="000000"/>
                </a:solidFill>
                <a:latin typeface="Carelia"/>
                <a:ea typeface="Carelia"/>
                <a:cs typeface="Carelia"/>
                <a:sym typeface="Carelia"/>
              </a:rPr>
              <a:t>| Recall    | 87.9% |</a:t>
            </a:r>
          </a:p>
          <a:p>
            <a:pPr algn="ctr">
              <a:lnSpc>
                <a:spcPts val="6263"/>
              </a:lnSpc>
              <a:spcBef>
                <a:spcPct val="0"/>
              </a:spcBef>
            </a:pPr>
            <a:r>
              <a:rPr lang="en-US" sz="4473">
                <a:solidFill>
                  <a:srgbClr val="000000"/>
                </a:solidFill>
                <a:latin typeface="Carelia"/>
                <a:ea typeface="Carelia"/>
                <a:cs typeface="Carelia"/>
                <a:sym typeface="Carelia"/>
              </a:rPr>
              <a:t>| F1-Score  | 0.895 |</a:t>
            </a:r>
          </a:p>
          <a:p>
            <a:pPr algn="ctr">
              <a:lnSpc>
                <a:spcPts val="6263"/>
              </a:lnSpc>
              <a:spcBef>
                <a:spcPct val="0"/>
              </a:spcBef>
            </a:pPr>
          </a:p>
          <a:p>
            <a:pPr algn="ctr">
              <a:lnSpc>
                <a:spcPts val="6263"/>
              </a:lnSpc>
              <a:spcBef>
                <a:spcPct val="0"/>
              </a:spcBef>
            </a:pPr>
          </a:p>
          <a:p>
            <a:pPr algn="ctr">
              <a:lnSpc>
                <a:spcPts val="6263"/>
              </a:lnSpc>
              <a:spcBef>
                <a:spcPct val="0"/>
              </a:spcBef>
            </a:pPr>
            <a:r>
              <a:rPr lang="en-US" sz="4473">
                <a:solidFill>
                  <a:srgbClr val="000000"/>
                </a:solidFill>
                <a:latin typeface="Carelia"/>
                <a:ea typeface="Carelia"/>
                <a:cs typeface="Carelia"/>
                <a:sym typeface="Carelia"/>
              </a:rPr>
              <a:t>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15618780" y="8883121"/>
            <a:ext cx="3223891" cy="1403879"/>
          </a:xfrm>
          <a:custGeom>
            <a:avLst/>
            <a:gdLst/>
            <a:ahLst/>
            <a:cxnLst/>
            <a:rect r="r" b="b" t="t" l="l"/>
            <a:pathLst>
              <a:path h="1403879" w="3223891">
                <a:moveTo>
                  <a:pt x="0" y="0"/>
                </a:moveTo>
                <a:lnTo>
                  <a:pt x="3223890" y="0"/>
                </a:lnTo>
                <a:lnTo>
                  <a:pt x="3223890" y="1403879"/>
                </a:lnTo>
                <a:lnTo>
                  <a:pt x="0" y="14038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59980" y="1156572"/>
            <a:ext cx="4694293" cy="836825"/>
          </a:xfrm>
          <a:prstGeom prst="rect">
            <a:avLst/>
          </a:prstGeom>
        </p:spPr>
        <p:txBody>
          <a:bodyPr anchor="t" rtlCol="false" tIns="0" lIns="0" bIns="0" rIns="0">
            <a:spAutoFit/>
          </a:bodyPr>
          <a:lstStyle/>
          <a:p>
            <a:pPr algn="ctr" marL="0" indent="0" lvl="0">
              <a:lnSpc>
                <a:spcPts val="6891"/>
              </a:lnSpc>
              <a:spcBef>
                <a:spcPct val="0"/>
              </a:spcBef>
            </a:pPr>
            <a:r>
              <a:rPr lang="en-US" sz="4922">
                <a:solidFill>
                  <a:srgbClr val="01070A"/>
                </a:solidFill>
                <a:latin typeface="Carelia"/>
                <a:ea typeface="Carelia"/>
                <a:cs typeface="Carelia"/>
                <a:sym typeface="Carelia"/>
              </a:rPr>
              <a:t>Conclusion</a:t>
            </a:r>
          </a:p>
        </p:txBody>
      </p:sp>
      <p:sp>
        <p:nvSpPr>
          <p:cNvPr name="TextBox 5" id="5"/>
          <p:cNvSpPr txBox="true"/>
          <p:nvPr/>
        </p:nvSpPr>
        <p:spPr>
          <a:xfrm rot="0">
            <a:off x="647738" y="2060094"/>
            <a:ext cx="17640262" cy="7925056"/>
          </a:xfrm>
          <a:prstGeom prst="rect">
            <a:avLst/>
          </a:prstGeom>
        </p:spPr>
        <p:txBody>
          <a:bodyPr anchor="t" rtlCol="false" tIns="0" lIns="0" bIns="0" rIns="0">
            <a:spAutoFit/>
          </a:bodyPr>
          <a:lstStyle/>
          <a:p>
            <a:pPr algn="l">
              <a:lnSpc>
                <a:spcPts val="5639"/>
              </a:lnSpc>
            </a:pPr>
          </a:p>
          <a:p>
            <a:pPr algn="l" marL="869627" indent="-434813" lvl="1">
              <a:lnSpc>
                <a:spcPts val="5639"/>
              </a:lnSpc>
              <a:buFont typeface="Arial"/>
              <a:buChar char="•"/>
            </a:pPr>
            <a:r>
              <a:rPr lang="en-US" sz="4027">
                <a:solidFill>
                  <a:srgbClr val="000000"/>
                </a:solidFill>
                <a:latin typeface="Times New Roman MT"/>
                <a:ea typeface="Times New Roman MT"/>
                <a:cs typeface="Times New Roman MT"/>
                <a:sym typeface="Times New Roman MT"/>
              </a:rPr>
              <a:t>Su</a:t>
            </a:r>
            <a:r>
              <a:rPr lang="en-US" sz="4027">
                <a:solidFill>
                  <a:srgbClr val="000000"/>
                </a:solidFill>
                <a:latin typeface="Times New Roman MT"/>
                <a:ea typeface="Times New Roman MT"/>
                <a:cs typeface="Times New Roman MT"/>
                <a:sym typeface="Times New Roman MT"/>
              </a:rPr>
              <a:t>ccessfully developed a hybrid AI-based fake news detection system</a:t>
            </a:r>
          </a:p>
          <a:p>
            <a:pPr algn="l" marL="869627" indent="-434813" lvl="1">
              <a:lnSpc>
                <a:spcPts val="5639"/>
              </a:lnSpc>
              <a:buFont typeface="Arial"/>
              <a:buChar char="•"/>
            </a:pPr>
            <a:r>
              <a:rPr lang="en-US" sz="4027">
                <a:solidFill>
                  <a:srgbClr val="000000"/>
                </a:solidFill>
                <a:latin typeface="Times New Roman MT"/>
                <a:ea typeface="Times New Roman MT"/>
                <a:cs typeface="Times New Roman MT"/>
                <a:sym typeface="Times New Roman MT"/>
              </a:rPr>
              <a:t>Integrated Machine Learning, LLM reasoning, OCR, and fusion analysis into a single platform</a:t>
            </a:r>
          </a:p>
          <a:p>
            <a:pPr algn="l" marL="869627" indent="-434813" lvl="1">
              <a:lnSpc>
                <a:spcPts val="5639"/>
              </a:lnSpc>
              <a:buFont typeface="Arial"/>
              <a:buChar char="•"/>
            </a:pPr>
            <a:r>
              <a:rPr lang="en-US" sz="4027">
                <a:solidFill>
                  <a:srgbClr val="000000"/>
                </a:solidFill>
                <a:latin typeface="Times New Roman MT"/>
                <a:ea typeface="Times New Roman MT"/>
                <a:cs typeface="Times New Roman MT"/>
                <a:sym typeface="Times New Roman MT"/>
              </a:rPr>
              <a:t>Enabled real-time verification for Text, URL, and Image-based news content</a:t>
            </a:r>
          </a:p>
          <a:p>
            <a:pPr algn="l" marL="869627" indent="-434813" lvl="1">
              <a:lnSpc>
                <a:spcPts val="5639"/>
              </a:lnSpc>
              <a:buFont typeface="Arial"/>
              <a:buChar char="•"/>
            </a:pPr>
            <a:r>
              <a:rPr lang="en-US" sz="4027">
                <a:solidFill>
                  <a:srgbClr val="000000"/>
                </a:solidFill>
                <a:latin typeface="Times New Roman MT"/>
                <a:ea typeface="Times New Roman MT"/>
                <a:cs typeface="Times New Roman MT"/>
                <a:sym typeface="Times New Roman MT"/>
              </a:rPr>
              <a:t>Improved prediction reliability using confidence-based multi-layer analysis</a:t>
            </a:r>
          </a:p>
          <a:p>
            <a:pPr algn="l" marL="869627" indent="-434813" lvl="1">
              <a:lnSpc>
                <a:spcPts val="5639"/>
              </a:lnSpc>
              <a:buFont typeface="Arial"/>
              <a:buChar char="•"/>
            </a:pPr>
            <a:r>
              <a:rPr lang="en-US" sz="4027">
                <a:solidFill>
                  <a:srgbClr val="000000"/>
                </a:solidFill>
                <a:latin typeface="Times New Roman MT"/>
                <a:ea typeface="Times New Roman MT"/>
                <a:cs typeface="Times New Roman MT"/>
                <a:sym typeface="Times New Roman MT"/>
              </a:rPr>
              <a:t>Bu</a:t>
            </a:r>
            <a:r>
              <a:rPr lang="en-US" sz="4027">
                <a:solidFill>
                  <a:srgbClr val="000000"/>
                </a:solidFill>
                <a:latin typeface="Times New Roman MT"/>
                <a:ea typeface="Times New Roman MT"/>
                <a:cs typeface="Times New Roman MT"/>
                <a:sym typeface="Times New Roman MT"/>
              </a:rPr>
              <a:t>ilt a scalable and user-friendly web application for misinformation detection</a:t>
            </a:r>
          </a:p>
          <a:p>
            <a:pPr algn="l" marL="869627" indent="-434813" lvl="1">
              <a:lnSpc>
                <a:spcPts val="5639"/>
              </a:lnSpc>
              <a:buFont typeface="Arial"/>
              <a:buChar char="•"/>
            </a:pPr>
            <a:r>
              <a:rPr lang="en-US" sz="4027">
                <a:solidFill>
                  <a:srgbClr val="000000"/>
                </a:solidFill>
                <a:latin typeface="Times New Roman MT"/>
                <a:ea typeface="Times New Roman MT"/>
                <a:cs typeface="Times New Roman MT"/>
                <a:sym typeface="Times New Roman MT"/>
              </a:rPr>
              <a:t>Demonstrated the potential of Hybrid AI systems for reliable fake news verification</a:t>
            </a:r>
          </a:p>
          <a:p>
            <a:pPr algn="l">
              <a:lnSpc>
                <a:spcPts val="5639"/>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TextBox 3" id="3"/>
          <p:cNvSpPr txBox="true"/>
          <p:nvPr/>
        </p:nvSpPr>
        <p:spPr>
          <a:xfrm rot="0">
            <a:off x="386259" y="2084097"/>
            <a:ext cx="18101786" cy="7174203"/>
          </a:xfrm>
          <a:prstGeom prst="rect">
            <a:avLst/>
          </a:prstGeom>
        </p:spPr>
        <p:txBody>
          <a:bodyPr anchor="t" rtlCol="false" tIns="0" lIns="0" bIns="0" rIns="0">
            <a:spAutoFit/>
          </a:bodyPr>
          <a:lstStyle/>
          <a:p>
            <a:pPr algn="l">
              <a:lnSpc>
                <a:spcPts val="5146"/>
              </a:lnSpc>
            </a:pPr>
            <a:r>
              <a:rPr lang="en-US" sz="3676">
                <a:solidFill>
                  <a:srgbClr val="000000"/>
                </a:solidFill>
                <a:latin typeface="Times New Roman MT"/>
                <a:ea typeface="Times New Roman MT"/>
                <a:cs typeface="Times New Roman MT"/>
                <a:sym typeface="Times New Roman MT"/>
              </a:rPr>
              <a:t>1.</a:t>
            </a:r>
            <a:r>
              <a:rPr lang="en-US" sz="3676">
                <a:solidFill>
                  <a:srgbClr val="000000"/>
                </a:solidFill>
                <a:latin typeface="Times New Roman MT"/>
                <a:ea typeface="Times New Roman MT"/>
                <a:cs typeface="Times New Roman MT"/>
                <a:sym typeface="Times New Roman MT"/>
              </a:rPr>
              <a:t>Ahmad K., Alam M. S., Kumar S.: Enhancing Fake News Detection with Transformer-based Models. IEEE Access 12, 15234–15248 (2024)</a:t>
            </a:r>
          </a:p>
          <a:p>
            <a:pPr algn="l">
              <a:lnSpc>
                <a:spcPts val="5146"/>
              </a:lnSpc>
            </a:pPr>
            <a:r>
              <a:rPr lang="en-US" sz="3676">
                <a:solidFill>
                  <a:srgbClr val="000000"/>
                </a:solidFill>
                <a:latin typeface="Times New Roman MT"/>
                <a:ea typeface="Times New Roman MT"/>
                <a:cs typeface="Times New Roman MT"/>
                <a:sym typeface="Times New Roman MT"/>
              </a:rPr>
              <a:t> 2. Zhang L., Wang H., Chen Y.: Survey on Deep Learning Approaches for Fake News Detection. IEEE TCSS 11(2), 892–908 (2024).  </a:t>
            </a:r>
          </a:p>
          <a:p>
            <a:pPr algn="l">
              <a:lnSpc>
                <a:spcPts val="5146"/>
              </a:lnSpc>
            </a:pPr>
            <a:r>
              <a:rPr lang="en-US" sz="3676">
                <a:solidFill>
                  <a:srgbClr val="000000"/>
                </a:solidFill>
                <a:latin typeface="Times New Roman MT"/>
                <a:ea typeface="Times New Roman MT"/>
                <a:cs typeface="Times New Roman MT"/>
                <a:sym typeface="Times New Roman MT"/>
              </a:rPr>
              <a:t>3. Patel R., Singh A., Gupta V.: BERT-based Ensemble for Multilingual Fake News Detection. IEEE Computer Society 18(4), 45–58 (2023).  </a:t>
            </a:r>
          </a:p>
          <a:p>
            <a:pPr algn="l">
              <a:lnSpc>
                <a:spcPts val="5146"/>
              </a:lnSpc>
            </a:pPr>
            <a:r>
              <a:rPr lang="en-US" sz="3676">
                <a:solidFill>
                  <a:srgbClr val="000000"/>
                </a:solidFill>
                <a:latin typeface="Times New Roman MT"/>
                <a:ea typeface="Times New Roman MT"/>
                <a:cs typeface="Times New Roman MT"/>
                <a:sym typeface="Times New Roman MT"/>
              </a:rPr>
              <a:t>4. Johnson M., Liu X., Thompson K.: Real-time Misinformation Detection Using Hybrid Architectures. IEEE TKDE 35(8), 7821–7834 (2023). </a:t>
            </a:r>
          </a:p>
          <a:p>
            <a:pPr algn="l">
              <a:lnSpc>
                <a:spcPts val="5146"/>
              </a:lnSpc>
            </a:pPr>
            <a:r>
              <a:rPr lang="en-US" sz="3676">
                <a:solidFill>
                  <a:srgbClr val="000000"/>
                </a:solidFill>
                <a:latin typeface="Times New Roman MT"/>
                <a:ea typeface="Times New Roman MT"/>
                <a:cs typeface="Times New Roman MT"/>
                <a:sym typeface="Times New Roman MT"/>
              </a:rPr>
              <a:t> 5. Rodriguez C., Kim J., Brown A.: Explainable AI for Social Media Content Verification. IEEE Intelligent Systems 39(1), 78–87 (2024).</a:t>
            </a:r>
          </a:p>
          <a:p>
            <a:pPr algn="l">
              <a:lnSpc>
                <a:spcPts val="5146"/>
              </a:lnSpc>
            </a:pPr>
          </a:p>
        </p:txBody>
      </p:sp>
      <p:sp>
        <p:nvSpPr>
          <p:cNvPr name="TextBox 4" id="4"/>
          <p:cNvSpPr txBox="true"/>
          <p:nvPr/>
        </p:nvSpPr>
        <p:spPr>
          <a:xfrm rot="0">
            <a:off x="751921" y="942975"/>
            <a:ext cx="2885020" cy="781749"/>
          </a:xfrm>
          <a:prstGeom prst="rect">
            <a:avLst/>
          </a:prstGeom>
        </p:spPr>
        <p:txBody>
          <a:bodyPr anchor="t" rtlCol="false" tIns="0" lIns="0" bIns="0" rIns="0">
            <a:spAutoFit/>
          </a:bodyPr>
          <a:lstStyle/>
          <a:p>
            <a:pPr algn="ctr">
              <a:lnSpc>
                <a:spcPts val="6430"/>
              </a:lnSpc>
            </a:pPr>
            <a:r>
              <a:rPr lang="en-US" sz="4593">
                <a:solidFill>
                  <a:srgbClr val="000000"/>
                </a:solidFill>
                <a:latin typeface="Carelia"/>
                <a:ea typeface="Carelia"/>
                <a:cs typeface="Carelia"/>
                <a:sym typeface="Carelia"/>
              </a:rPr>
              <a:t>Reference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ln w="657225" cap="sq">
              <a:solidFill>
                <a:srgbClr val="1E3F48"/>
              </a:solidFill>
              <a:prstDash val="solid"/>
              <a:miter/>
            </a:ln>
          </p:spPr>
        </p:sp>
        <p:sp>
          <p:nvSpPr>
            <p:cNvPr name="TextBox 5" id="5"/>
            <p:cNvSpPr txBox="true"/>
            <p:nvPr/>
          </p:nvSpPr>
          <p:spPr>
            <a:xfrm>
              <a:off x="0" y="-47625"/>
              <a:ext cx="4816593" cy="2756958"/>
            </a:xfrm>
            <a:prstGeom prst="rect">
              <a:avLst/>
            </a:prstGeom>
          </p:spPr>
          <p:txBody>
            <a:bodyPr anchor="ctr" rtlCol="false" tIns="50800" lIns="50800" bIns="50800" rIns="50800"/>
            <a:lstStyle/>
            <a:p>
              <a:pPr algn="ctr">
                <a:lnSpc>
                  <a:spcPts val="3210"/>
                </a:lnSpc>
              </a:pPr>
            </a:p>
          </p:txBody>
        </p:sp>
      </p:grpSp>
      <p:sp>
        <p:nvSpPr>
          <p:cNvPr name="Freeform 6" id="6"/>
          <p:cNvSpPr/>
          <p:nvPr/>
        </p:nvSpPr>
        <p:spPr>
          <a:xfrm flipH="false" flipV="false" rot="0">
            <a:off x="14711521" y="7045396"/>
            <a:ext cx="9448343" cy="5616757"/>
          </a:xfrm>
          <a:custGeom>
            <a:avLst/>
            <a:gdLst/>
            <a:ahLst/>
            <a:cxnLst/>
            <a:rect r="r" b="b" t="t" l="l"/>
            <a:pathLst>
              <a:path h="5616757" w="9448343">
                <a:moveTo>
                  <a:pt x="0" y="0"/>
                </a:moveTo>
                <a:lnTo>
                  <a:pt x="9448343" y="0"/>
                </a:lnTo>
                <a:lnTo>
                  <a:pt x="9448343" y="5616757"/>
                </a:lnTo>
                <a:lnTo>
                  <a:pt x="0" y="56167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751588" y="7045396"/>
            <a:ext cx="8436357" cy="5844796"/>
          </a:xfrm>
          <a:custGeom>
            <a:avLst/>
            <a:gdLst/>
            <a:ahLst/>
            <a:cxnLst/>
            <a:rect r="r" b="b" t="t" l="l"/>
            <a:pathLst>
              <a:path h="5844796" w="8436357">
                <a:moveTo>
                  <a:pt x="0" y="0"/>
                </a:moveTo>
                <a:lnTo>
                  <a:pt x="8436356" y="0"/>
                </a:lnTo>
                <a:lnTo>
                  <a:pt x="8436356" y="5844796"/>
                </a:lnTo>
                <a:lnTo>
                  <a:pt x="0" y="58447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664584" y="4146046"/>
            <a:ext cx="13321088" cy="1794883"/>
          </a:xfrm>
          <a:prstGeom prst="rect">
            <a:avLst/>
          </a:prstGeom>
        </p:spPr>
        <p:txBody>
          <a:bodyPr anchor="t" rtlCol="false" tIns="0" lIns="0" bIns="0" rIns="0">
            <a:spAutoFit/>
          </a:bodyPr>
          <a:lstStyle/>
          <a:p>
            <a:pPr algn="ctr">
              <a:lnSpc>
                <a:spcPts val="14797"/>
              </a:lnSpc>
            </a:pPr>
            <a:r>
              <a:rPr lang="en-US" sz="10569">
                <a:solidFill>
                  <a:srgbClr val="01070A"/>
                </a:solidFill>
                <a:latin typeface="Carelia"/>
                <a:ea typeface="Carelia"/>
                <a:cs typeface="Carelia"/>
                <a:sym typeface="Carelia"/>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DAG1HU8V-Xc</dc:identifier>
  <dcterms:modified xsi:type="dcterms:W3CDTF">2011-08-01T06:04:30Z</dcterms:modified>
  <cp:revision>1</cp:revision>
  <dc:title>FINAL PHASE PPT</dc:title>
</cp:coreProperties>
</file>